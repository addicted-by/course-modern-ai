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notesMaster" Target="notesMasters/notesMaster1.xml" /><Relationship Id="rId39" Type="http://schemas.openxmlformats.org/officeDocument/2006/relationships/viewProps" Target="viewProps.xml" /><Relationship Id="rId38" Type="http://schemas.openxmlformats.org/officeDocument/2006/relationships/presProps" Target="presProps.xml" /><Relationship Id="rId1" Type="http://schemas.openxmlformats.org/officeDocument/2006/relationships/slideMaster" Target="slideMasters/slideMaster1.xml" /><Relationship Id="rId41" Type="http://schemas.openxmlformats.org/officeDocument/2006/relationships/tableStyles" Target="tableStyles.xml" /><Relationship Id="rId4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the course as a place to work through models and methods together. The focus is on understanding the code, trying a specific change and checking its effect. The mathematical material supports these experiments. Small implementations help connect an idea in a paper with the behavior of a model. The project gives students a task on which to apply the methods and compare results with a baseline. We will discuss the limitations and tradeoffs as well as the improvements. Share experience from product work as context for these questions. The module roadmap, project catalog and assignment details follow later in the presentation.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Lead Engineer at Huawei Research Center and project lead for diffusion model deployment on Mate90. Education: a bachelor’s degree from Moscow Aviation Institute, master’s degrees from MIPT and HSE FCS, and an ongoing PhD at Skoltech. Contributed to deploying visual models on Mate60, Pura70, Pura X, Mate70, Pura80, Mate80, Pura90 and Mate90. Introduced optimization tools for pruning, cherry-picking, normalization removal and layer-wise reduction. Research projects include accelerator, qaput and diffusion model acceleration. Taught one course during undergraduate studies and currently mentors three interns. Formal teaching experience is still limited.</a:t>
            </a:r>
          </a:p>
          <a:p>
            <a:pPr lvl="0" indent="0" marL="0">
              <a:buNone/>
            </a:pPr>
          </a:p>
          <a:p>
            <a:pPr lvl="0" indent="0" marL="0">
              <a:buNone/>
            </a:pPr>
            <a:r>
              <a:rPr/>
              <a:t>Image credits: DXOMARK, Huawei P30 Pro camera review, updated September 18, 2019. The top photo is identified in the review as a Huawei P30 Pro Night Mode sample. The bottom photo is the review’s 4x field-of-view fusion example, combining image data from the primary and telephoto cameras. Original Night Mode image. Original FOV Fusion image.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 where to find materials and where to post questions. Announcements, deadlines and schedule changes are posted in Announcements.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2.0 min 🗣️ </a:t>
            </a:r>
            <a:r>
              <a:rPr b="1"/>
              <a:t>Key Points:</a:t>
            </a:r>
            <a:r>
              <a:rPr/>
              <a:t> The course is logically divided into two halves: 1. Foundational mathematics and single-operator mechanics (Modules 1–4). 2. Frontier scaling, distributed systems, and foundation models (Modules 5–8).</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1.0 min Transition slide to Part 1 of the course syllabus.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HW0 gives a first benchmark for candidate projects. HW1 connects the experiments with the papers and helps students choose a direction.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3.0 min 🗣️ </a:t>
            </a:r>
            <a:r>
              <a:rPr b="1"/>
              <a:t>Key Points:</a:t>
            </a:r>
            <a:r>
              <a:rPr/>
              <a:t> Here we connect classical linear algebra (SVD) directly to modern parameter-efficient fine-tuning (LoRA). Students discover that LoRA is not proprietary magic from Hugging Face PEFT, but a direct consequence of low intrinsic rank during adaptation.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HW5 develops the matrix differentiation needed to interpret gradients. HW6 uses forward/backward hooks from HW3 to collect Taylor importance scores, which will be reused in HW8.</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HW7 reuses the work and initialization from HW3. Students distill a selected operator and compare the student with the teacher using the same inputs.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1.0 min Transition slide to Part 2 of the course syllabus.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HW8 combines the local distillation pipeline from HW7 with importance estimates from HW6. Compare the variants under the same evaluation conditions.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HW9 covers the infrastructure around the model: reproducible launches, checkpointing, experiment tracking and distributed execution with the available hardware.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HW10 integrates the semester work into a complete project. For LLM tracks, the module provides training and evaluation tools for the final model.</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2.5 min 🗣️ </a:t>
            </a:r>
            <a:r>
              <a:rPr b="1"/>
              <a:t>Key Points:</a:t>
            </a:r>
            <a:r>
              <a:rPr/>
              <a:t> During Week 8, students are freed from new assignments. This allows everyone to finish training, compute final benchmark tables, and prepare for the oral defense.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3.0 min 🗣️ </a:t>
            </a:r>
            <a:r>
              <a:rPr b="1"/>
              <a:t>Key Points:</a:t>
            </a:r>
            <a:r>
              <a:rPr/>
              <a:t> Projects span multiple modalities: image generation (1, 2, 6), computer vision &amp; detection (3), large language models &amp; code synthesis (4, 5). All fit comfortably inside free Kaggle GPU limits (T4 16GB).</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3.0 min 🗣️ </a:t>
            </a:r>
            <a:r>
              <a:rPr b="1"/>
              <a:t>Key Points:</a:t>
            </a:r>
            <a:r>
              <a:rPr/>
              <a:t> Projects 9 and 10 combine Segment Anything 2 (SAM2) masks with classical image processing equations. Project 8 tackles singing voice transcription (ASR), where standard speech models fail.</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2.5 min 🗣️ </a:t>
            </a:r>
            <a:r>
              <a:rPr b="1"/>
              <a:t>Key Points:</a:t>
            </a:r>
            <a:r>
              <a:rPr/>
              <a:t> Notice that you do not start your final project from scratch in the last week. The assignments progressively supply the experiments, analysis and infrastructure for the final project.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HW7 reuses the work and initialization from HW3. HW8 extends local distillation with importance estimates from HW6. HW10 integrates the course work into the final project.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Demonstrate the full workflow: open the starter notebook, run an experiment, save a version and submit the assignment. Discuss environment and execution questions in the Telegram topic “03 · Kaggle support”.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 </a:t>
            </a:r>
            <a:r>
              <a:rPr b="1"/>
              <a:t>Timing:</a:t>
            </a:r>
            <a:r>
              <a:rPr/>
              <a:t> 2.0 min 🗣️ </a:t>
            </a:r>
            <a:r>
              <a:rPr b="1"/>
              <a:t>Key Points:</a:t>
            </a:r>
            <a:r>
              <a:rPr/>
              <a:t> We live in the era of advanced AI — using coding assistants is natural, but during project defense you will be questioned on mechanics. If you use a method or library, you must understand exactly how it works under the hood.</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things I hope students will gain through the assignments and project: familiarity with model code, experience with experiments, and practice dealing with everyday implementation problems. The project should give each student something they understand and can continue working on. Discussing attempts that did not help is part of this process. Teaching the course is also an opportunity for me to deepen my own understanding and share knowledge from product work. Invite questions and suggestions about what would be useful to explore.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0.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type="subTitle"/>
          </p:nvPr>
        </p:nvSpPr>
        <p:spPr>
          <a:xfrm>
            <a:off x="1371600" y="2914650"/>
            <a:ext cx="6400800" cy="1314450"/>
          </a:xfrm>
        </p:spPr>
        <p:txBody>
          <a:bodyPr/>
          <a:lstStyle/>
          <a:p>
            <a:pPr lvl="0" indent="0" marL="0">
              <a:buNone/>
            </a:pPr>
            <a:r>
              <a:rPr/>
              <a:t>Architectural Foundations, Mathematical Rigor &amp; End-to-End Systems</a:t>
            </a:r>
            <a:br/>
            <a:br/>
            <a:r>
              <a:rPr/>
              <a:t>Aleksey Ryabykin</a:t>
            </a:r>
          </a:p>
        </p:txBody>
      </p:sp>
      <p:sp>
        <p:nvSpPr>
          <p:cNvPr id="4" name="Date Placeholder 3"/>
          <p:cNvSpPr>
            <a:spLocks noGrp="1"/>
          </p:cNvSpPr>
          <p:nvPr>
            <p:ph idx="10" sz="half" type="dt"/>
          </p:nvPr>
        </p:nvSpPr>
        <p:spPr/>
        <p:txBody>
          <a:bodyPr/>
          <a:lstStyle/>
          <a:p>
            <a:pPr lvl="0" indent="0" marL="0">
              <a:buNone/>
            </a:pPr>
            <a:r>
              <a:rPr/>
              <a:t>2026-09-04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Modern AI. Course Architecture</a:t>
            </a:r>
          </a:p>
          <a:p>
            <a:pPr lvl="0" indent="0" marL="0">
              <a:buNone/>
            </a:pPr>
            <a:r>
              <a:rPr/>
              <a:t>Curriculum, projects and course logistics</a:t>
            </a:r>
          </a:p>
          <a:p>
            <a:pPr lvl="0" indent="0" marL="0">
              <a:buNone/>
            </a:pPr>
            <a:r>
              <a:rPr b="1"/>
              <a:t>Author:</a:t>
            </a:r>
            <a:r>
              <a:rPr/>
              <a:t> Alexey Ryabykin • </a:t>
            </a:r>
            <a:r>
              <a:rPr b="1"/>
              <a:t>Course:</a:t>
            </a:r>
            <a:r>
              <a:rPr/>
              <a:t> Modern AI • </a:t>
            </a:r>
            <a:r>
              <a:rPr b="1"/>
              <a:t>Year:</a:t>
            </a:r>
            <a:r>
              <a:rPr/>
              <a:t> 2026-2027 • </a:t>
            </a:r>
            <a:r>
              <a:rPr b="1"/>
              <a:t>Release:</a:t>
            </a:r>
            <a:r>
              <a:rPr/>
              <a:t> v0.0.1</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This Course About?</a:t>
            </a:r>
          </a:p>
        </p:txBody>
      </p:sp>
      <p:sp>
        <p:nvSpPr>
          <p:cNvPr id="3" name="Content Placeholder 2"/>
          <p:cNvSpPr>
            <a:spLocks noGrp="1"/>
          </p:cNvSpPr>
          <p:nvPr>
            <p:ph idx="1"/>
          </p:nvPr>
        </p:nvSpPr>
        <p:spPr/>
        <p:txBody>
          <a:bodyPr/>
          <a:lstStyle/>
          <a:p>
            <a:pPr lvl="0" indent="0" marL="0">
              <a:buNone/>
            </a:pPr>
            <a:r>
              <a:rPr/>
              <a:t>We’ll explore how modern AI models work and how to adapt them to a task.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What we’ll study</a:t>
            </a:r>
          </a:p>
          <a:p>
            <a:pPr lvl="0"/>
            <a:r>
              <a:rPr/>
              <a:t>Model components and the mathematics behind them.</a:t>
            </a:r>
          </a:p>
          <a:p>
            <a:pPr lvl="0"/>
            <a:r>
              <a:rPr/>
              <a:t>Training, fine-tuning and ways to reduce compute and memory use.</a:t>
            </a:r>
          </a:p>
          <a:p>
            <a:pPr lvl="0"/>
            <a:r>
              <a:rPr/>
              <a:t>Evaluation and the infrastructure needed to run experiments.</a:t>
            </a:r>
          </a:p>
        </p:txBody>
      </p:sp>
      <p:sp>
        <p:nvSpPr>
          <p:cNvPr id="4" name="Content Placeholder 3"/>
          <p:cNvSpPr>
            <a:spLocks noGrp="1"/>
          </p:cNvSpPr>
          <p:nvPr>
            <p:ph idx="2" sz="half"/>
          </p:nvPr>
        </p:nvSpPr>
        <p:spPr/>
        <p:txBody>
          <a:bodyPr/>
          <a:lstStyle/>
          <a:p>
            <a:pPr lvl="0" indent="0" marL="0">
              <a:spcBef>
                <a:spcPts val="3000"/>
              </a:spcBef>
              <a:buNone/>
            </a:pPr>
            <a:r>
              <a:rPr b="1"/>
              <a:t>How we’ll work</a:t>
            </a:r>
          </a:p>
          <a:p>
            <a:pPr lvl="0"/>
            <a:r>
              <a:rPr/>
              <a:t>Read papers alongside the code.</a:t>
            </a:r>
          </a:p>
          <a:p>
            <a:pPr lvl="0"/>
            <a:r>
              <a:rPr/>
              <a:t>Implement selected components and test them in small experiments.</a:t>
            </a:r>
          </a:p>
          <a:p>
            <a:pPr lvl="0"/>
            <a:r>
              <a:rPr/>
              <a:t>Use a project to compare a baseline with our own changes.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I’ll bring examples from product work. We’ll use them as starting points for experiments and discussion.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Is Your Instructor?</a:t>
            </a:r>
          </a:p>
        </p:txBody>
      </p:sp>
      <p:sp>
        <p:nvSpPr>
          <p:cNvPr id="3" name="Content Placeholder 2"/>
          <p:cNvSpPr>
            <a:spLocks noGrp="1"/>
          </p:cNvSpPr>
          <p:nvPr>
            <p:ph idx="1"/>
          </p:nvPr>
        </p:nvSpPr>
        <p:spPr/>
        <p:txBody>
          <a:bodyPr/>
          <a:lstStyle/>
          <a:p>
            <a:pPr lvl="0" indent="0" marL="0">
              <a:buNone/>
            </a:pPr>
            <a:r>
              <a:rPr/>
              <a:t>Alexey Ryabykin</a:t>
            </a:r>
          </a:p>
          <a:p>
            <a:pPr lvl="0" indent="0" marL="0">
              <a:buNone/>
            </a:pPr>
            <a:r>
              <a:rPr b="1"/>
              <a:t>Lead Engineer, Huawei Research Center</a:t>
            </a:r>
            <a:br/>
            <a:r>
              <a:rPr/>
              <a:t>Project lead for diffusion model deployment on Mate90.</a:t>
            </a:r>
          </a:p>
          <a:p>
            <a:pPr lvl="0"/>
            <a:r>
              <a:rPr b="1"/>
              <a:t>Education:</a:t>
            </a:r>
            <a:r>
              <a:rPr/>
              <a:t> Bachelor’s degree from Moscow Aviation Institute. Master’s degrees from MIPT and HSE FCS. PhD at Skoltech in progress.</a:t>
            </a:r>
          </a:p>
          <a:p>
            <a:pPr lvl="0"/>
            <a:r>
              <a:rPr b="1"/>
              <a:t>Experience:</a:t>
            </a:r>
            <a:r>
              <a:rPr/>
              <a:t> Contributed to visual model deployment on Mate60, Pura70, Pura X, Mate70, Mate XT, Pura80, Mate80, Pura90 and Mate90. Introduced model optimization tools for pruning, cherry-picking, normalization removal and layer-wise reduction.</a:t>
            </a:r>
          </a:p>
          <a:p>
            <a:pPr lvl="0"/>
            <a:r>
              <a:rPr b="1"/>
              <a:t>Projects and research:</a:t>
            </a:r>
            <a:r>
              <a:rPr/>
              <a:t> </a:t>
            </a:r>
            <a:r>
              <a:rPr>
                <a:latin typeface="Courier"/>
              </a:rPr>
              <a:t>accelerator</a:t>
            </a:r>
            <a:r>
              <a:rPr/>
              <a:t>: research workflow optimization framework. </a:t>
            </a:r>
            <a:r>
              <a:rPr>
                <a:latin typeface="Courier"/>
              </a:rPr>
              <a:t>qaput</a:t>
            </a:r>
            <a:r>
              <a:rPr/>
              <a:t>: pruning framework. Diffusion model acceleration.</a:t>
            </a:r>
          </a:p>
          <a:p>
            <a:pPr lvl="0"/>
            <a:r>
              <a:rPr b="1"/>
              <a:t>Teaching:</a:t>
            </a:r>
            <a:r>
              <a:rPr/>
              <a:t> Limited classroom teaching experience: one course as an undergraduate. Currently mentoring three interns at work.</a:t>
            </a:r>
          </a:p>
          <a:p>
            <a:pPr lvl="0"/>
            <a:r>
              <a:rPr b="1"/>
              <a:t>Why this course:</a:t>
            </a:r>
            <a:r>
              <a:rPr/>
              <a:t> This is a good opportunity to deepen my own understanding and share the knowledge I’ve gained while working on real products.</a:t>
            </a:r>
          </a:p>
          <a:p>
            <a:pPr lvl="0" indent="0" marL="0">
              <a:buNone/>
            </a:pPr>
            <a:r>
              <a:rPr/>
              <a:t>Huawei Night Mode</a:t>
            </a:r>
          </a:p>
          <a:p>
            <a:pPr lvl="0" indent="0" marL="0">
              <a:buNone/>
            </a:pPr>
          </a:p>
          <a:p>
            <a:pPr lvl="0" indent="0" marL="0">
              <a:buNone/>
            </a:pPr>
            <a:r>
              <a:rPr/>
              <a:t>FOV Fusion · 4× Zoom</a:t>
            </a:r>
          </a:p>
          <a:p>
            <a:pPr lvl="0" indent="0" marL="0">
              <a:buNone/>
            </a:pPr>
          </a:p>
          <a:p>
            <a:pPr lvl="0" indent="0" marL="0">
              <a:buNone/>
            </a:pPr>
            <a:r>
              <a:rPr/>
              <a:t>Huawei P30 Pro · Photos: DXOMARK</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Will We Use Telegram?</a:t>
            </a:r>
          </a:p>
        </p:txBody>
      </p:sp>
      <p:sp>
        <p:nvSpPr>
          <p:cNvPr id="3" name="Content Placeholder 2"/>
          <p:cNvSpPr>
            <a:spLocks noGrp="1"/>
          </p:cNvSpPr>
          <p:nvPr>
            <p:ph idx="1"/>
          </p:nvPr>
        </p:nvSpPr>
        <p:spPr/>
        <p:txBody>
          <a:bodyPr/>
          <a:lstStyle/>
          <a:p>
            <a:pPr lvl="0" indent="0" marL="0">
              <a:buNone/>
            </a:pPr>
            <a:r>
              <a:rPr b="1"/>
              <a:t>🎓 Modern Artificial Intelligence</a:t>
            </a:r>
          </a:p>
          <a:p>
            <a:pPr lvl="0" indent="0" marL="0">
              <a:buNone/>
            </a:pPr>
            <a:r>
              <a:rPr/>
              <a:t>Our course group: class materials, hands-on work with modern AI models, support and project discussions.</a:t>
            </a:r>
          </a:p>
          <a:p>
            <a:pPr lvl="0" indent="0" marL="0">
              <a:buNone/>
            </a:pPr>
            <a:r>
              <a:rPr b="1"/>
              <a:t>📌 00 · Start here</a:t>
            </a:r>
          </a:p>
          <a:p>
            <a:pPr lvl="0" indent="0" marL="0">
              <a:buNone/>
            </a:pPr>
            <a:r>
              <a:rPr/>
              <a:t>Everything you need to get started: syllabus, schedule, course rules and essential links.</a:t>
            </a:r>
          </a:p>
          <a:p>
            <a:pPr lvl="0" indent="0" marL="0">
              <a:buNone/>
            </a:pPr>
            <a:r>
              <a:rPr b="1"/>
              <a:t>📢 01 · Announcements</a:t>
            </a:r>
          </a:p>
          <a:p>
            <a:pPr lvl="0" indent="0" marL="0">
              <a:buNone/>
            </a:pPr>
            <a:r>
              <a:rPr/>
              <a:t>Course news, deadlines and schedule updates.</a:t>
            </a:r>
          </a:p>
          <a:p>
            <a:pPr lvl="0" indent="0" marL="0">
              <a:buNone/>
            </a:pPr>
            <a:r>
              <a:rPr b="1"/>
              <a:t>🧩 02 · Prerequisites</a:t>
            </a:r>
          </a:p>
          <a:p>
            <a:pPr lvl="0" indent="0" marL="0">
              <a:buNone/>
            </a:pPr>
            <a:r>
              <a:rPr/>
              <a:t>Required background and resources to review Python, PyTorch and ML fundamentals.</a:t>
            </a:r>
          </a:p>
          <a:p>
            <a:pPr lvl="0" indent="0" marL="0">
              <a:buNone/>
            </a:pPr>
            <a:r>
              <a:rPr b="1"/>
              <a:t>🛠 03 · Kaggle support</a:t>
            </a:r>
          </a:p>
          <a:p>
            <a:pPr lvl="0" indent="0" marL="0">
              <a:buNone/>
            </a:pPr>
            <a:r>
              <a:rPr/>
              <a:t>Help with Kaggle, GPUs, environment setup and running notebooks.</a:t>
            </a:r>
          </a:p>
          <a:p>
            <a:pPr lvl="0" indent="0" marL="0">
              <a:buNone/>
            </a:pPr>
            <a:r>
              <a:rPr b="1"/>
              <a:t>📚 04 · Lectures &amp; Seminars</a:t>
            </a:r>
          </a:p>
          <a:p>
            <a:pPr lvl="0" indent="0" marL="0">
              <a:buNone/>
            </a:pPr>
            <a:r>
              <a:rPr/>
              <a:t>Slides, class recordings, code and questions about lectures and seminars.</a:t>
            </a:r>
          </a:p>
          <a:p>
            <a:pPr lvl="0" indent="0" marL="0">
              <a:buNone/>
            </a:pPr>
            <a:r>
              <a:rPr b="1"/>
              <a:t>🧪 05 · Projects hub</a:t>
            </a:r>
          </a:p>
          <a:p>
            <a:pPr lvl="0" indent="0" marL="0">
              <a:buNone/>
            </a:pPr>
            <a:r>
              <a:rPr/>
              <a:t>Project descriptions and selection, deliverable requirements and general project questions.</a:t>
            </a:r>
          </a:p>
          <a:p>
            <a:pPr lvl="0" indent="0" marL="0">
              <a:buNone/>
            </a:pPr>
            <a:r>
              <a:rPr b="1"/>
              <a:t>💬 06 · General discussion</a:t>
            </a:r>
          </a:p>
          <a:p>
            <a:pPr lvl="0" indent="0" marL="0">
              <a:buNone/>
            </a:pPr>
            <a:r>
              <a:rPr/>
              <a:t>Conversation, interesting discoveries and AI discussions beyond the classroom.</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Is the Course Structured?</a:t>
            </a:r>
          </a:p>
        </p:txBody>
      </p:sp>
      <p:sp>
        <p:nvSpPr>
          <p:cNvPr id="3" name="Content Placeholder 2"/>
          <p:cNvSpPr>
            <a:spLocks noGrp="1"/>
          </p:cNvSpPr>
          <p:nvPr>
            <p:ph idx="1"/>
          </p:nvPr>
        </p:nvSpPr>
        <p:spPr/>
        <p:txBody>
          <a:bodyPr/>
          <a:lstStyle/>
          <a:p>
            <a:pPr lvl="0" indent="0" marL="0">
              <a:buNone/>
            </a:pPr>
            <a:r>
              <a:rPr/>
              <a:t>Syllabus Overview • From Primitives to Foundation Models</a:t>
            </a:r>
          </a:p>
          <a:p>
            <a:pPr lvl="0" indent="0" marL="0">
              <a:buNone/>
            </a:pPr>
            <a:r>
              <a:rPr/>
              <a:t>Comprehensive 8-Module Progression From linear algebra, computational graphs, and loss landscapes to distributed multi-GPU training, large language models, and vision-language synthesis.</a:t>
            </a:r>
          </a:p>
          <a:p>
            <a:pPr lvl="0" indent="0" marL="0">
              <a:buNone/>
            </a:pPr>
            <a:r>
              <a:rPr/>
              <a:t>M1: Intro &amp; Modalities Taxonomy of data modalities, generative architectures, Kaggle setup, capstone catalog.</a:t>
            </a:r>
          </a:p>
          <a:p>
            <a:pPr lvl="0" indent="0" marL="0">
              <a:buNone/>
            </a:pPr>
            <a:r>
              <a:rPr/>
              <a:t>M2: Linear Algebra &amp; LoRA SVD, Eckart-Young theorem, low-rank factorization, LoRA from scratch, PyTorch hooks.</a:t>
            </a:r>
          </a:p>
          <a:p>
            <a:pPr lvl="0" indent="0" marL="0">
              <a:buNone/>
            </a:pPr>
            <a:r>
              <a:rPr/>
              <a:t>M3: Graphs &amp; Pruning Autograd internals, reverse-mode autodiff, 1st-order Taylor sensitivity, pruning maps.</a:t>
            </a:r>
          </a:p>
          <a:p>
            <a:pPr lvl="0" indent="0" marL="0">
              <a:buNone/>
            </a:pPr>
            <a:r>
              <a:rPr/>
              <a:t>M4: Distillation First-order optimizers (SGD, AdamW), loss landscapes, local operator distillation.</a:t>
            </a:r>
          </a:p>
          <a:p>
            <a:pPr lvl="0" indent="0" marL="0">
              <a:buNone/>
            </a:pPr>
            <a:r>
              <a:rPr/>
              <a:t>M5: Deep Optimization Spectral optimization (Muon), Newton-Schulz iterations, Lion, SAM, scaling laws.</a:t>
            </a:r>
          </a:p>
          <a:p>
            <a:pPr lvl="0" indent="0" marL="0">
              <a:buNone/>
            </a:pPr>
            <a:r>
              <a:rPr/>
              <a:t>M6: Distributed &amp; DDP Data/Tensor parallelism, DDP, FSDP, ZeRO, mixed precision (BF16), Accelerate, W&amp;B.</a:t>
            </a:r>
          </a:p>
          <a:p>
            <a:pPr lvl="0" indent="0" marL="0">
              <a:buNone/>
            </a:pPr>
            <a:r>
              <a:rPr/>
              <a:t>M7: nanoGPT &amp; SFT Causal attention, RoPE, RMSNorm, SwiGLU, Qwen2.5 audit, SFT, QLoRA, benchmarks.</a:t>
            </a:r>
          </a:p>
          <a:p>
            <a:pPr lvl="0" indent="0" marL="0">
              <a:buNone/>
            </a:pPr>
            <a:r>
              <a:rPr/>
              <a:t>M8: nanoVLM &amp; Vision Multimodal fusion, ViT, SigLIP, projection layers, cross-attention, instruction tuning.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Part 01</a:t>
            </a:r>
          </a:p>
          <a:p>
            <a:pPr lvl="0" indent="0" marL="0">
              <a:buNone/>
            </a:pPr>
            <a:r>
              <a:rPr/>
              <a:t>Foundations: Algebra, Graphs &amp; Optimization</a:t>
            </a:r>
          </a:p>
          <a:p>
            <a:pPr lvl="0" indent="0" marL="0">
              <a:buNone/>
            </a:pPr>
            <a:r>
              <a:rPr/>
              <a:t>Modules 01 to 04 • From the current state of AI to computational graphs, automatic matrix differentiation, and optimization.</a:t>
            </a:r>
          </a:p>
          <a:p>
            <a:pPr lvl="0" indent="0" marL="0">
              <a:buNone/>
            </a:pPr>
            <a:r>
              <a:rPr/>
              <a:t>📋 Part 1 Modules</a:t>
            </a:r>
          </a:p>
          <a:p>
            <a:pPr lvl="0" indent="0" marL="0">
              <a:buNone/>
            </a:pPr>
            <a:r>
              <a:rPr/>
              <a:t>1 Module 1: Introduction, Modalities &amp; Project Selection</a:t>
            </a:r>
          </a:p>
          <a:p>
            <a:pPr lvl="0" indent="0" marL="0">
              <a:buNone/>
            </a:pPr>
            <a:r>
              <a:rPr/>
              <a:t>2 Module 2: Linear Algebra for Deep Learning &amp; LoRA</a:t>
            </a:r>
          </a:p>
          <a:p>
            <a:pPr lvl="0" indent="0" marL="0">
              <a:buNone/>
            </a:pPr>
            <a:r>
              <a:rPr/>
              <a:t>3 Module 3: Computational Graphs &amp; Taylor Pruning</a:t>
            </a:r>
          </a:p>
          <a:p>
            <a:pPr lvl="0" indent="0" marL="0">
              <a:buNone/>
            </a:pPr>
            <a:r>
              <a:rPr/>
              <a:t>4 Module 4: First-Order Optimization &amp; Local Distillation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Introduction, Modalities &amp; Project Selection</a:t>
            </a:r>
          </a:p>
        </p:txBody>
      </p:sp>
      <p:sp>
        <p:nvSpPr>
          <p:cNvPr id="3" name="Content Placeholder 2"/>
          <p:cNvSpPr>
            <a:spLocks noGrp="1"/>
          </p:cNvSpPr>
          <p:nvPr>
            <p:ph idx="1"/>
          </p:nvPr>
        </p:nvSpPr>
        <p:spPr/>
        <p:txBody>
          <a:bodyPr/>
          <a:lstStyle/>
          <a:p>
            <a:pPr lvl="0" indent="0" marL="0">
              <a:buNone/>
            </a:pPr>
            <a:r>
              <a:rPr/>
              <a:t>Weeks 01-02 • Course Launch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 Module 1 Content</a:t>
            </a:r>
          </a:p>
          <a:p>
            <a:pPr lvl="0"/>
            <a:r>
              <a:rPr b="1"/>
              <a:t>Course Overview &amp; Logistics:</a:t>
            </a:r>
            <a:r>
              <a:rPr/>
              <a:t> Grading policy, rules, expectations.</a:t>
            </a:r>
          </a:p>
          <a:p>
            <a:pPr lvl="0"/>
            <a:r>
              <a:rPr b="1"/>
              <a:t>Modern AI Landscape:</a:t>
            </a:r>
            <a:r>
              <a:rPr/>
              <a:t> What AI has already achieved in the world.</a:t>
            </a:r>
          </a:p>
          <a:p>
            <a:pPr lvl="0"/>
            <a:r>
              <a:rPr b="1"/>
              <a:t>Data Modalities:</a:t>
            </a:r>
            <a:r>
              <a:rPr/>
              <a:t> Text, images, audio, video, robotic action.</a:t>
            </a:r>
          </a:p>
          <a:p>
            <a:pPr lvl="0"/>
            <a:r>
              <a:rPr b="1"/>
              <a:t>Taxonomy of Architectures:</a:t>
            </a:r>
            <a:r>
              <a:rPr/>
              <a:t> Autoregression, diffusion, flow matching, masked autoencoders.</a:t>
            </a:r>
          </a:p>
          <a:p>
            <a:pPr lvl="0"/>
            <a:r>
              <a:rPr b="1"/>
              <a:t>Multimodal Integration:</a:t>
            </a:r>
            <a:r>
              <a:rPr/>
              <a:t> Joint embedding spaces and cross-attention alignment.</a:t>
            </a:r>
          </a:p>
          <a:p>
            <a:pPr lvl="0" indent="0" marL="0">
              <a:buNone/>
            </a:pPr>
            <a:r>
              <a:rPr/>
              <a:t>💻 Seminar 1</a:t>
            </a:r>
          </a:p>
          <a:p>
            <a:pPr lvl="0"/>
            <a:r>
              <a:rPr/>
              <a:t>Workspace configuration in </a:t>
            </a:r>
            <a:r>
              <a:rPr b="1"/>
              <a:t>Kaggle</a:t>
            </a:r>
            <a:r>
              <a:rPr/>
              <a:t>: GPU quotas, secrets, persistent storage.</a:t>
            </a:r>
          </a:p>
          <a:p>
            <a:pPr lvl="0"/>
            <a:r>
              <a:rPr/>
              <a:t>Interactive demonstration of baseline notebooks.</a:t>
            </a:r>
          </a:p>
        </p:txBody>
      </p:sp>
      <p:sp>
        <p:nvSpPr>
          <p:cNvPr id="4" name="Content Placeholder 3"/>
          <p:cNvSpPr>
            <a:spLocks noGrp="1"/>
          </p:cNvSpPr>
          <p:nvPr>
            <p:ph idx="2" sz="half"/>
          </p:nvPr>
        </p:nvSpPr>
        <p:spPr/>
        <p:txBody>
          <a:bodyPr/>
          <a:lstStyle/>
          <a:p>
            <a:pPr lvl="0" indent="0" marL="0">
              <a:buNone/>
            </a:pPr>
            <a:r>
              <a:rPr/>
              <a:t>🎯 Module 1 Homeworks</a:t>
            </a:r>
          </a:p>
          <a:p>
            <a:pPr lvl="0" indent="0" marL="0">
              <a:buNone/>
            </a:pPr>
            <a:r>
              <a:rPr/>
              <a:t>HW0: Benchmark Baseline Models</a:t>
            </a:r>
          </a:p>
          <a:p>
            <a:pPr lvl="0" indent="0" marL="0">
              <a:buNone/>
            </a:pPr>
            <a:r>
              <a:rPr/>
              <a:t>Run baseline notebooks for 2–3 candidate projects. Record quality metrics, latency and memory use.</a:t>
            </a:r>
          </a:p>
          <a:p>
            <a:pPr lvl="0" indent="0" marL="0">
              <a:buNone/>
            </a:pPr>
            <a:r>
              <a:rPr/>
              <a:t>HW1: Articles overview</a:t>
            </a:r>
          </a:p>
          <a:p>
            <a:pPr lvl="0" indent="0" marL="0">
              <a:buNone/>
            </a:pPr>
            <a:r>
              <a:rPr/>
              <a:t>Review the papers behind your project candidates. Compare their methods, datasets and evaluation, then explain your chosen direction.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Linear Algebra for Deep Learning &amp; LoRA</a:t>
            </a:r>
          </a:p>
        </p:txBody>
      </p:sp>
      <p:sp>
        <p:nvSpPr>
          <p:cNvPr id="3" name="Content Placeholder 2"/>
          <p:cNvSpPr>
            <a:spLocks noGrp="1"/>
          </p:cNvSpPr>
          <p:nvPr>
            <p:ph idx="1"/>
          </p:nvPr>
        </p:nvSpPr>
        <p:spPr/>
        <p:txBody>
          <a:bodyPr/>
          <a:lstStyle/>
          <a:p>
            <a:pPr lvl="0" indent="0" marL="0">
              <a:buNone/>
            </a:pPr>
            <a:r>
              <a:rPr/>
              <a:t>Week 03-04 • Subspace Geometry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 Module 2 Content</a:t>
                </a:r>
              </a:p>
              <a:p>
                <a:pPr lvl="0"/>
                <a:r>
                  <a:rPr b="1"/>
                  <a:t>Geometric Motivation:</a:t>
                </a:r>
                <a:r>
                  <a:rPr/>
                  <a:t> How data manifolds and subspace geometry govern model trainability.</a:t>
                </a:r>
              </a:p>
              <a:p>
                <a:pPr lvl="0"/>
                <a:r>
                  <a:rPr b="1"/>
                  <a:t>Moore-Penrose Pseudoinverse:</a:t>
                </a:r>
                <a:r>
                  <a:rPr/>
                  <a:t> Geometric derivation and least-squares connection </a:t>
                </a:r>
                <a14:m>
                  <m:oMath xmlns:m="http://schemas.openxmlformats.org/officeDocument/2006/math">
                    <m:sSup>
                      <m:e>
                        <m:r>
                          <m:t>X</m:t>
                        </m:r>
                      </m:e>
                      <m:sup>
                        <m:r>
                          <m:rPr>
                            <m:sty m:val="p"/>
                          </m:rPr>
                          <m:t>+</m:t>
                        </m:r>
                      </m:sup>
                    </m:sSup>
                    <m:r>
                      <m:rPr>
                        <m:sty m:val="p"/>
                      </m:rPr>
                      <m:t>=</m:t>
                    </m:r>
                    <m:r>
                      <m:rPr>
                        <m:sty m:val="p"/>
                      </m:rPr>
                      <m:t>(</m:t>
                    </m:r>
                    <m:sSup>
                      <m:e>
                        <m:r>
                          <m:t>X</m:t>
                        </m:r>
                      </m:e>
                      <m:sup>
                        <m:r>
                          <m:t>T</m:t>
                        </m:r>
                      </m:sup>
                    </m:sSup>
                    <m:r>
                      <m:t>X</m:t>
                    </m:r>
                    <m:sSup>
                      <m:e>
                        <m:r>
                          <m:rPr>
                            <m:sty m:val="p"/>
                          </m:rPr>
                          <m:t>)</m:t>
                        </m:r>
                      </m:e>
                      <m:sup>
                        <m:r>
                          <m:rPr>
                            <m:sty m:val="p"/>
                          </m:rPr>
                          <m:t>−</m:t>
                        </m:r>
                        <m:r>
                          <m:t>1</m:t>
                        </m:r>
                      </m:sup>
                    </m:sSup>
                    <m:sSup>
                      <m:e>
                        <m:r>
                          <m:t>X</m:t>
                        </m:r>
                      </m:e>
                      <m:sup>
                        <m:r>
                          <m:t>T</m:t>
                        </m:r>
                      </m:sup>
                    </m:sSup>
                  </m:oMath>
                </a14:m>
                <a:r>
                  <a:rPr/>
                  <a:t>.</a:t>
                </a:r>
              </a:p>
              <a:p>
                <a:pPr lvl="0"/>
                <a:r>
                  <a:rPr b="1"/>
                  <a:t>Matrix Decompositions:</a:t>
                </a:r>
                <a:r>
                  <a:rPr/>
                  <a:t> LU, QR (Gram-Schmidt orthogonalization), Cholesky (covariance and whitening).</a:t>
                </a:r>
              </a:p>
              <a:p>
                <a:pPr lvl="0"/>
                <a:r>
                  <a:rPr b="1"/>
                  <a:t>Singular Value Decomposition (SVD):</a:t>
                </a:r>
                <a:r>
                  <a:rPr/>
                  <a:t> Spectral norm, low-rank approximation (Eckart-Young-Mirsky theorem).</a:t>
                </a:r>
              </a:p>
              <a:p>
                <a:pPr lvl="0"/>
                <a:r>
                  <a:rPr b="1"/>
                  <a:t>LoRA (Low-Rank Adaptation):</a:t>
                </a:r>
                <a:r>
                  <a:rPr/>
                  <a:t> Weight update parameterization </a:t>
                </a:r>
                <a14:m>
                  <m:oMath xmlns:m="http://schemas.openxmlformats.org/officeDocument/2006/math">
                    <m:r>
                      <m:t>W</m:t>
                    </m:r>
                    <m:r>
                      <m:rPr>
                        <m:sty m:val="p"/>
                      </m:rPr>
                      <m:t>=</m:t>
                    </m:r>
                    <m:sSub>
                      <m:e>
                        <m:r>
                          <m:t>W</m:t>
                        </m:r>
                      </m:e>
                      <m:sub>
                        <m:r>
                          <m:t>0</m:t>
                        </m:r>
                      </m:sub>
                    </m:sSub>
                    <m:r>
                      <m:rPr>
                        <m:sty m:val="p"/>
                      </m:rPr>
                      <m:t>+</m:t>
                    </m:r>
                    <m:r>
                      <m:rPr>
                        <m:sty m:val="p"/>
                      </m:rPr>
                      <m:t>Δ</m:t>
                    </m:r>
                    <m:r>
                      <m:t>W</m:t>
                    </m:r>
                  </m:oMath>
                </a14:m>
                <a:r>
                  <a:rPr/>
                  <a:t>, where </a:t>
                </a:r>
                <a14:m>
                  <m:oMath xmlns:m="http://schemas.openxmlformats.org/officeDocument/2006/math">
                    <m:r>
                      <m:rPr>
                        <m:sty m:val="p"/>
                      </m:rPr>
                      <m:t>Δ</m:t>
                    </m:r>
                    <m:r>
                      <m:t>W</m:t>
                    </m:r>
                    <m:r>
                      <m:rPr>
                        <m:sty m:val="p"/>
                      </m:rPr>
                      <m:t>=</m:t>
                    </m:r>
                    <m:f>
                      <m:fPr>
                        <m:type m:val="bar"/>
                      </m:fPr>
                      <m:num>
                        <m:r>
                          <m:t>α</m:t>
                        </m:r>
                      </m:num>
                      <m:den>
                        <m:r>
                          <m:t>r</m:t>
                        </m:r>
                      </m:den>
                    </m:f>
                    <m:r>
                      <m:t>B</m:t>
                    </m:r>
                    <m:r>
                      <m:t>A</m:t>
                    </m:r>
                  </m:oMath>
                </a14:m>
                <a:r>
                  <a:rPr/>
                  <a:t>.</a:t>
                </a:r>
              </a:p>
              <a:p>
                <a:pPr lvl="0" indent="0" marL="0">
                  <a:buNone/>
                </a:pPr>
                <a:r>
                  <a:rPr/>
                  <a:t>💻 Seminar 2</a:t>
                </a:r>
              </a:p>
              <a:p>
                <a:pPr lvl="0"/>
                <a:r>
                  <a:rPr/>
                  <a:t>Implementing SVD truncation and LoRA layers from scratch in PyTorch.</a:t>
                </a:r>
              </a:p>
              <a:p>
                <a:pPr lvl="0"/>
                <a:r>
                  <a:rPr/>
                  <a:t>PyTorch </a:t>
                </a:r>
                <a:r>
                  <a:rPr b="1"/>
                  <a:t>Hooks</a:t>
                </a:r>
                <a:r>
                  <a:rPr/>
                  <a:t> mechanism: intercepting activations, weights, and gradients dynamically.</a:t>
                </a:r>
              </a:p>
              <a:p>
                <a:pPr lvl="0"/>
                <a:r>
                  <a:rPr b="1"/>
                  <a:t>Student Presentations:</a:t>
                </a:r>
                <a:r>
                  <a:rPr/>
                  <a:t> Capstone concept defenses (HW1).</a:t>
                </a:r>
              </a:p>
            </p:txBody>
          </p:sp>
        </mc:Choice>
      </mc:AlternateContent>
      <p:sp>
        <p:nvSpPr>
          <p:cNvPr id="4" name="Content Placeholder 3"/>
          <p:cNvSpPr>
            <a:spLocks noGrp="1"/>
          </p:cNvSpPr>
          <p:nvPr>
            <p:ph idx="2" sz="half"/>
          </p:nvPr>
        </p:nvSpPr>
        <p:spPr/>
        <p:txBody>
          <a:bodyPr/>
          <a:lstStyle/>
          <a:p>
            <a:pPr lvl="0" indent="0" marL="0">
              <a:buNone/>
            </a:pPr>
            <a:r>
              <a:rPr/>
              <a:t>🎯 Module 2 Homeworks</a:t>
            </a:r>
          </a:p>
          <a:p>
            <a:pPr lvl="0" indent="0" marL="0">
              <a:buNone/>
            </a:pPr>
            <a:r>
              <a:rPr/>
              <a:t>HW2: torch / numpy/cupy / scipy</a:t>
            </a:r>
          </a:p>
          <a:p>
            <a:pPr lvl="0" indent="0" marL="0">
              <a:buNone/>
            </a:pPr>
            <a:r>
              <a:rPr/>
              <a:t>Tensor operations and numerical linear algebra across the three library groups.</a:t>
            </a:r>
          </a:p>
          <a:p>
            <a:pPr lvl="0" indent="0" marL="0">
              <a:buNone/>
            </a:pPr>
            <a:r>
              <a:rPr/>
              <a:t>HW3: forward/backward/hooks</a:t>
            </a:r>
          </a:p>
          <a:p>
            <a:pPr lvl="0" indent="0" marL="0">
              <a:buNone/>
            </a:pPr>
            <a:r>
              <a:rPr/>
              <a:t>Inspect forward and backward passes. Capture operator inputs, outputs and gradients with hooks. Save the operator setup and initialization for </a:t>
            </a:r>
            <a:r>
              <a:rPr b="1"/>
              <a:t>HW7</a:t>
            </a:r>
            <a:r>
              <a:rPr/>
              <a:t>.</a:t>
            </a:r>
          </a:p>
          <a:p>
            <a:pPr lvl="0" indent="0" marL="0">
              <a:buNone/>
            </a:pPr>
            <a:r>
              <a:rPr/>
              <a:t>HW4: analytical operator approximation</a:t>
            </a:r>
          </a:p>
          <a:p>
            <a:pPr lvl="0" indent="0" marL="0">
              <a:buNone/>
            </a:pPr>
            <a:r>
              <a:rPr/>
              <a:t>Apply analytical low-rank approximations to project operators and measure the effect of rank on reconstruction error.</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Network Foundations, Graphs &amp; Autograd</a:t>
            </a:r>
          </a:p>
        </p:txBody>
      </p:sp>
      <p:sp>
        <p:nvSpPr>
          <p:cNvPr id="3" name="Content Placeholder 2"/>
          <p:cNvSpPr>
            <a:spLocks noGrp="1"/>
          </p:cNvSpPr>
          <p:nvPr>
            <p:ph idx="1"/>
          </p:nvPr>
        </p:nvSpPr>
        <p:spPr/>
        <p:txBody>
          <a:bodyPr/>
          <a:lstStyle/>
          <a:p>
            <a:pPr lvl="0" indent="0" marL="0">
              <a:buNone/>
            </a:pPr>
            <a:r>
              <a:rPr/>
              <a:t>Week 05-06 • Gradient Mechanics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 Module 3 Content</a:t>
                </a:r>
              </a:p>
              <a:p>
                <a:pPr lvl="0"/>
                <a:r>
                  <a:rPr b="1"/>
                  <a:t>Computational Graphs:</a:t>
                </a:r>
                <a:r>
                  <a:rPr/>
                  <a:t> Static graphs (TorchScript, execution engines) vs Dynamic graphs (PyTorch eager execution).</a:t>
                </a:r>
              </a:p>
              <a:p>
                <a:pPr lvl="0"/>
                <a:r>
                  <a:rPr b="1"/>
                  <a:t>Reverse-Mode Autodiff:</a:t>
                </a:r>
                <a:r>
                  <a:rPr/>
                  <a:t> Reverse accumulation, backpropagation, and vector-Jacobian products (VJPs).</a:t>
                </a:r>
              </a:p>
              <a:p>
                <a:pPr lvl="0"/>
                <a:r>
                  <a:rPr b="1"/>
                  <a:t>Gradient as Sensitivity Metric:</a:t>
                </a:r>
                <a:r>
                  <a:rPr/>
                  <a:t> First-order Taylor expansion for network pruning:</a:t>
                </a:r>
              </a:p>
              <a:p>
                <a:pPr lvl="0"/>
                <a14:m>
                  <m:oMathPara xmlns:m="http://schemas.openxmlformats.org/officeDocument/2006/math">
                    <m:oMathParaPr>
                      <m:jc m:val="center"/>
                    </m:oMathParaPr>
                    <m:oMath>
                      <m:r>
                        <m:rPr>
                          <m:sty m:val="p"/>
                        </m:rPr>
                        <m:t>Δ</m:t>
                      </m:r>
                      <m:r>
                        <m:rPr>
                          <m:scr m:val="script"/>
                          <m:sty m:val="p"/>
                        </m:rPr>
                        <m:t>L</m:t>
                      </m:r>
                      <m:r>
                        <m:rPr>
                          <m:sty m:val="p"/>
                        </m:rPr>
                        <m:t>≈</m:t>
                      </m:r>
                      <m:d>
                        <m:dPr>
                          <m:begChr m:val="|"/>
                          <m:sepChr m:val=""/>
                          <m:endChr m:val="|"/>
                          <m:grow/>
                        </m:dPr>
                        <m:e>
                          <m:f>
                            <m:fPr>
                              <m:type m:val="bar"/>
                            </m:fPr>
                            <m:num>
                              <m:r>
                                <m:rPr>
                                  <m:sty m:val="p"/>
                                </m:rPr>
                                <m:t>∂</m:t>
                              </m:r>
                              <m:r>
                                <m:rPr>
                                  <m:scr m:val="script"/>
                                  <m:sty m:val="p"/>
                                </m:rPr>
                                <m:t>L</m:t>
                              </m:r>
                            </m:num>
                            <m:den>
                              <m:r>
                                <m:rPr>
                                  <m:sty m:val="p"/>
                                </m:rPr>
                                <m:t>∂</m:t>
                              </m:r>
                              <m:r>
                                <m:t>w</m:t>
                              </m:r>
                            </m:den>
                          </m:f>
                          <m:r>
                            <m:rPr>
                              <m:sty m:val="p"/>
                            </m:rPr>
                            <m:t>⋅</m:t>
                          </m:r>
                          <m:r>
                            <m:t>w</m:t>
                          </m:r>
                        </m:e>
                      </m:d>
                    </m:oMath>
                  </m:oMathPara>
                </a14:m>
              </a:p>
              <a:p>
                <a:pPr lvl="0"/>
                <a:r>
                  <a:rPr b="1"/>
                  <a:t>Weight vs Activation Sensitivity:</a:t>
                </a:r>
                <a:r>
                  <a:rPr/>
                  <a:t> Equivalence proof for linear and convolutional layers.</a:t>
                </a:r>
              </a:p>
              <a:p>
                <a:pPr lvl="0" indent="0" marL="0">
                  <a:buNone/>
                </a:pPr>
                <a:r>
                  <a:rPr/>
                  <a:t>💻 Seminar 3</a:t>
                </a:r>
              </a:p>
              <a:p>
                <a:pPr lvl="0"/>
                <a:r>
                  <a:rPr/>
                  <a:t>Hands-on </a:t>
                </a:r>
                <a:r>
                  <a:rPr b="1"/>
                  <a:t>Taylor Pruning</a:t>
                </a:r>
                <a:r>
                  <a:rPr/>
                  <a:t>: profiling channel, attention head, and layer sensitivity.</a:t>
                </a:r>
              </a:p>
              <a:p>
                <a:pPr lvl="0"/>
                <a:r>
                  <a:rPr/>
                  <a:t>Building custom backward hooks to accumulate gradient statistics across batches.</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a:t>🎯 Module 3 Homeworks</a:t>
                </a:r>
              </a:p>
              <a:p>
                <a:pPr lvl="0" indent="0" marL="0">
                  <a:buNone/>
                </a:pPr>
                <a:r>
                  <a:rPr/>
                  <a:t>HW5: Matrix differentiation</a:t>
                </a:r>
              </a:p>
              <a:p>
                <a:pPr lvl="0" indent="0" marL="0">
                  <a:buNone/>
                </a:pPr>
                <a:r>
                  <a:rPr/>
                  <a:t>Derive matrix gradients for the proposed examples.</a:t>
                </a:r>
              </a:p>
              <a:p>
                <a:pPr lvl="0" indent="0" marL="0">
                  <a:buNone/>
                </a:pPr>
                <a:r>
                  <a:rPr/>
                  <a:t>HW6: Taylor Importance estimation</a:t>
                </a:r>
              </a:p>
              <a:p>
                <a:pPr lvl="0" indent="0" marL="0">
                  <a:buNone/>
                </a:pPr>
                <a:r>
                  <a:rPr/>
                  <a:t>Estimate the importance of layers, channels and attention heads using first-order Taylor scores. Build an importance map for your project model.</a:t>
                </a:r>
              </a:p>
              <a:p>
                <a:pPr lvl="0" indent="0" marL="0">
                  <a:buNone/>
                </a:pPr>
                <a14:m>
                  <m:oMathPara xmlns:m="http://schemas.openxmlformats.org/officeDocument/2006/math">
                    <m:oMathParaPr>
                      <m:jc m:val="center"/>
                    </m:oMathParaPr>
                    <m:oMath>
                      <m:r>
                        <m:t>I</m:t>
                      </m:r>
                      <m:r>
                        <m:rPr>
                          <m:sty m:val="p"/>
                        </m:rPr>
                        <m:t>(</m:t>
                      </m:r>
                      <m:r>
                        <m:t>a</m:t>
                      </m:r>
                      <m:r>
                        <m:rPr>
                          <m:sty m:val="p"/>
                        </m:rPr>
                        <m:t>)</m:t>
                      </m:r>
                      <m:r>
                        <m:rPr>
                          <m:sty m:val="p"/>
                        </m:rPr>
                        <m:t>=</m:t>
                      </m:r>
                      <m:d>
                        <m:dPr>
                          <m:begChr m:val="|"/>
                          <m:sepChr m:val=""/>
                          <m:endChr m:val="|"/>
                          <m:grow/>
                        </m:dPr>
                        <m:e>
                          <m:f>
                            <m:fPr>
                              <m:type m:val="bar"/>
                            </m:fPr>
                            <m:num>
                              <m:r>
                                <m:rPr>
                                  <m:sty m:val="p"/>
                                </m:rPr>
                                <m:t>∂</m:t>
                              </m:r>
                              <m:r>
                                <m:rPr>
                                  <m:scr m:val="script"/>
                                  <m:sty m:val="p"/>
                                </m:rPr>
                                <m:t>L</m:t>
                              </m:r>
                            </m:num>
                            <m:den>
                              <m:r>
                                <m:rPr>
                                  <m:sty m:val="p"/>
                                </m:rPr>
                                <m:t>∂</m:t>
                              </m:r>
                              <m:r>
                                <m:t>a</m:t>
                              </m:r>
                            </m:den>
                          </m:f>
                          <m:r>
                            <m:rPr>
                              <m:sty m:val="p"/>
                            </m:rPr>
                            <m:t>⊙</m:t>
                          </m:r>
                          <m:r>
                            <m:t>a</m:t>
                          </m:r>
                        </m:e>
                      </m:d>
                    </m:oMath>
                  </m:oMathPara>
                </a14:m>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4: Optimization Foundations &amp; Local Distillation</a:t>
            </a:r>
          </a:p>
        </p:txBody>
      </p:sp>
      <p:sp>
        <p:nvSpPr>
          <p:cNvPr id="3" name="Content Placeholder 2"/>
          <p:cNvSpPr>
            <a:spLocks noGrp="1"/>
          </p:cNvSpPr>
          <p:nvPr>
            <p:ph idx="1"/>
          </p:nvPr>
        </p:nvSpPr>
        <p:spPr/>
        <p:txBody>
          <a:bodyPr/>
          <a:lstStyle/>
          <a:p>
            <a:pPr lvl="0" indent="0" marL="0">
              <a:buNone/>
            </a:pPr>
            <a:r>
              <a:rPr/>
              <a:t>Week 07 • Optimization Dynamics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 Module 4 Content</a:t>
                </a:r>
              </a:p>
              <a:p>
                <a:pPr lvl="0"/>
                <a:r>
                  <a:rPr b="1"/>
                  <a:t>Momentum Dynamics:</a:t>
                </a:r>
                <a:r>
                  <a:rPr/>
                  <a:t> Classical Momentum vs Nesterov Accelerated Gradient (NAG).</a:t>
                </a:r>
              </a:p>
              <a:p>
                <a:pPr lvl="0"/>
                <a:r>
                  <a:rPr b="1"/>
                  <a:t>Adaptive Methods:</a:t>
                </a:r>
                <a:r>
                  <a:rPr/>
                  <a:t> RMSprop, Adam, AdamW (decoupled weight decay vs L2 regularization).</a:t>
                </a:r>
              </a:p>
              <a:p>
                <a:pPr lvl="0"/>
                <a:r>
                  <a:rPr b="1"/>
                  <a:t>Loss Landscapes:</a:t>
                </a:r>
                <a:r>
                  <a:rPr/>
                  <a:t> Ill-conditioned Hessians, ravines, saddle points, and gradient noise.</a:t>
                </a:r>
              </a:p>
              <a:p>
                <a:pPr lvl="0"/>
                <a:r>
                  <a:rPr b="1"/>
                  <a:t>Local Distillation:</a:t>
                </a:r>
                <a:r>
                  <a:rPr/>
                  <a:t> Distilling an expensive operator into a compact surrogate using layerwise alignment:</a:t>
                </a:r>
              </a:p>
              <a:p>
                <a:pPr lvl="0"/>
                <a14:m>
                  <m:oMathPara xmlns:m="http://schemas.openxmlformats.org/officeDocument/2006/math">
                    <m:oMathParaPr>
                      <m:jc m:val="center"/>
                    </m:oMathParaPr>
                    <m:oMath>
                      <m:sSub>
                        <m:e>
                          <m:r>
                            <m:rPr>
                              <m:scr m:val="script"/>
                              <m:sty m:val="p"/>
                            </m:rPr>
                            <m:t>L</m:t>
                          </m:r>
                        </m:e>
                        <m:sub>
                          <m:r>
                            <m:rPr>
                              <m:nor/>
                              <m:sty m:val="p"/>
                            </m:rPr>
                            <m:t>distill</m:t>
                          </m:r>
                        </m:sub>
                      </m:sSub>
                      <m:r>
                        <m:rPr>
                          <m:sty m:val="p"/>
                        </m:rPr>
                        <m:t>=</m:t>
                      </m:r>
                      <m:r>
                        <m:t>α</m:t>
                      </m:r>
                      <m:sSub>
                        <m:e>
                          <m:r>
                            <m:rPr>
                              <m:scr m:val="script"/>
                              <m:sty m:val="p"/>
                            </m:rPr>
                            <m:t>L</m:t>
                          </m:r>
                        </m:e>
                        <m:sub>
                          <m:r>
                            <m:rPr>
                              <m:nor/>
                              <m:sty m:val="p"/>
                            </m:rPr>
                            <m:t>MSE</m:t>
                          </m:r>
                        </m:sub>
                      </m:sSub>
                      <m:r>
                        <m:rPr>
                          <m:sty m:val="p"/>
                        </m:rPr>
                        <m:t>(</m:t>
                      </m:r>
                      <m:sSub>
                        <m:e>
                          <m:r>
                            <m:t>y</m:t>
                          </m:r>
                        </m:e>
                        <m:sub>
                          <m:r>
                            <m:t>S</m:t>
                          </m:r>
                        </m:sub>
                      </m:sSub>
                      <m:r>
                        <m:rPr>
                          <m:sty m:val="p"/>
                        </m:rPr>
                        <m:t>,</m:t>
                      </m:r>
                      <m:sSub>
                        <m:e>
                          <m:r>
                            <m:t>y</m:t>
                          </m:r>
                        </m:e>
                        <m:sub>
                          <m:r>
                            <m:t>T</m:t>
                          </m:r>
                        </m:sub>
                      </m:sSub>
                      <m:r>
                        <m:rPr>
                          <m:sty m:val="p"/>
                        </m:rPr>
                        <m:t>)</m:t>
                      </m:r>
                      <m:r>
                        <m:rPr>
                          <m:sty m:val="p"/>
                        </m:rPr>
                        <m:t>+</m:t>
                      </m:r>
                      <m:r>
                        <m:t>β</m:t>
                      </m:r>
                      <m:r>
                        <m:rPr>
                          <m:sty m:val="p"/>
                        </m:rPr>
                        <m:t>(</m:t>
                      </m:r>
                      <m:r>
                        <m:t>1</m:t>
                      </m:r>
                      <m:r>
                        <m:rPr>
                          <m:sty m:val="p"/>
                        </m:rPr>
                        <m:t>−</m:t>
                      </m:r>
                      <m:r>
                        <m:rPr>
                          <m:sty m:val="p"/>
                        </m:rPr>
                        <m:t>cos</m:t>
                      </m:r>
                      <m:r>
                        <m:rPr>
                          <m:sty m:val="p"/>
                        </m:rPr>
                        <m:t>(</m:t>
                      </m:r>
                      <m:sSub>
                        <m:e>
                          <m:r>
                            <m:t>y</m:t>
                          </m:r>
                        </m:e>
                        <m:sub>
                          <m:r>
                            <m:t>S</m:t>
                          </m:r>
                        </m:sub>
                      </m:sSub>
                      <m:r>
                        <m:rPr>
                          <m:sty m:val="p"/>
                        </m:rPr>
                        <m:t>,</m:t>
                      </m:r>
                      <m:sSub>
                        <m:e>
                          <m:r>
                            <m:t>y</m:t>
                          </m:r>
                        </m:e>
                        <m:sub>
                          <m:r>
                            <m:t>T</m:t>
                          </m:r>
                        </m:sub>
                      </m:sSub>
                      <m:r>
                        <m:rPr>
                          <m:sty m:val="p"/>
                        </m:rPr>
                        <m:t>)</m:t>
                      </m:r>
                      <m:r>
                        <m:rPr>
                          <m:sty m:val="p"/>
                        </m:rPr>
                        <m:t>)</m:t>
                      </m:r>
                    </m:oMath>
                  </m:oMathPara>
                </a14:m>
              </a:p>
              <a:p>
                <a:pPr lvl="0" indent="0" marL="0">
                  <a:buNone/>
                </a:pPr>
                <a:r>
                  <a:rPr/>
                  <a:t>💻 Seminar 4</a:t>
                </a:r>
              </a:p>
              <a:p>
                <a:pPr lvl="0"/>
                <a:r>
                  <a:rPr/>
                  <a:t>Local operator distillation in PyTorch with frozen teacher.</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a:t>🎯 Module 4 Homework</a:t>
                </a:r>
              </a:p>
              <a:p>
                <a:pPr lvl="0" indent="0" marL="0">
                  <a:buNone/>
                </a:pPr>
                <a:r>
                  <a:rPr/>
                  <a:t>HW7: Local distillation + Initialization from HW3</a:t>
                </a:r>
              </a:p>
              <a:p>
                <a:pPr lvl="0" indent="-342900" marL="342900">
                  <a:buAutoNum type="arabicPeriod"/>
                </a:pPr>
                <a:r>
                  <a:rPr/>
                  <a:t>Select an expensive operator and design a lightweight student.</a:t>
                </a:r>
              </a:p>
              <a:p>
                <a:pPr lvl="0" indent="-342900" marL="342900">
                  <a:buAutoNum type="arabicPeriod"/>
                </a:pPr>
                <a:r>
                  <a:rPr/>
                  <a:t>Reuse the forward/backward/hooks setup and initialization from </a:t>
                </a:r>
                <a:r>
                  <a:rPr b="1"/>
                  <a:t>HW3</a:t>
                </a:r>
                <a:r>
                  <a:rPr/>
                  <a:t>.</a:t>
                </a:r>
              </a:p>
              <a:p>
                <a:pPr lvl="0" indent="-342900" marL="342900">
                  <a:buAutoNum type="arabicPeriod"/>
                </a:pPr>
                <a:r>
                  <a:rPr/>
                  <a:t>Train the student to reproduce the frozen teacher’s outputs.</a:t>
                </a:r>
              </a:p>
              <a:p>
                <a:pPr lvl="0" indent="-342900" marL="342900">
                  <a:buAutoNum type="arabicPeriod"/>
                </a:pPr>
                <a:r>
                  <a:rPr/>
                  <a:t>Measure reconstruction quality, latency and memory use.</a:t>
                </a:r>
              </a:p>
              <a:p>
                <a:pPr lvl="0" indent="0" marL="0">
                  <a:buNone/>
                </a:pPr>
                <a14:m>
                  <m:oMathPara xmlns:m="http://schemas.openxmlformats.org/officeDocument/2006/math">
                    <m:oMathParaPr>
                      <m:jc m:val="center"/>
                    </m:oMathParaPr>
                    <m:oMath>
                      <m:sSub>
                        <m:e>
                          <m:r>
                            <m:rPr>
                              <m:scr m:val="script"/>
                              <m:sty m:val="p"/>
                            </m:rPr>
                            <m:t>L</m:t>
                          </m:r>
                        </m:e>
                        <m:sub>
                          <m:r>
                            <m:rPr>
                              <m:nor/>
                              <m:sty m:val="p"/>
                            </m:rPr>
                            <m:t>distill</m:t>
                          </m:r>
                        </m:sub>
                      </m:sSub>
                      <m:r>
                        <m:rPr>
                          <m:sty m:val="p"/>
                        </m:rPr>
                        <m:t>=</m:t>
                      </m:r>
                      <m:r>
                        <m:t>α</m:t>
                      </m:r>
                      <m:sSub>
                        <m:e>
                          <m:r>
                            <m:rPr>
                              <m:scr m:val="script"/>
                              <m:sty m:val="p"/>
                            </m:rPr>
                            <m:t>L</m:t>
                          </m:r>
                        </m:e>
                        <m:sub>
                          <m:r>
                            <m:rPr>
                              <m:nor/>
                              <m:sty m:val="p"/>
                            </m:rPr>
                            <m:t>MSE</m:t>
                          </m:r>
                        </m:sub>
                      </m:sSub>
                      <m:r>
                        <m:rPr>
                          <m:sty m:val="p"/>
                        </m:rPr>
                        <m:t>+</m:t>
                      </m:r>
                      <m:r>
                        <m:t>β</m:t>
                      </m:r>
                      <m:sSub>
                        <m:e>
                          <m:r>
                            <m:rPr>
                              <m:scr m:val="script"/>
                              <m:sty m:val="p"/>
                            </m:rPr>
                            <m:t>L</m:t>
                          </m:r>
                        </m:e>
                        <m:sub>
                          <m:r>
                            <m:rPr>
                              <m:nor/>
                              <m:sty m:val="p"/>
                            </m:rPr>
                            <m:t>cos</m:t>
                          </m:r>
                        </m:sub>
                      </m:sSub>
                    </m:oMath>
                  </m:oMathPara>
                </a14:m>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Part 02</a:t>
            </a:r>
          </a:p>
          <a:p>
            <a:pPr lvl="0" indent="0" marL="0">
              <a:buNone/>
            </a:pPr>
            <a:r>
              <a:rPr/>
              <a:t>Scaling: Advanced Optimizers, Infra &amp; LLMs/VLMs</a:t>
            </a:r>
          </a:p>
          <a:p>
            <a:pPr lvl="0" indent="0" marL="0">
              <a:buNone/>
            </a:pPr>
            <a:r>
              <a:rPr/>
              <a:t>Modules 05 to 08 • Spectral optimization, multi-GPU distributed systems, nanoGPT pretraining &amp; SFT, and multimodal VLM architectures.</a:t>
            </a:r>
          </a:p>
          <a:p>
            <a:pPr lvl="0" indent="0" marL="0">
              <a:buNone/>
            </a:pPr>
            <a:r>
              <a:rPr/>
              <a:t>📋 Part 2 Modules</a:t>
            </a:r>
          </a:p>
          <a:p>
            <a:pPr lvl="0" indent="0" marL="0">
              <a:buNone/>
            </a:pPr>
            <a:r>
              <a:rPr/>
              <a:t>5 Module 5: Deep Optimization, Lion/Muon &amp; Flat Minima</a:t>
            </a:r>
          </a:p>
          <a:p>
            <a:pPr lvl="0" indent="0" marL="0">
              <a:buNone/>
            </a:pPr>
            <a:r>
              <a:rPr/>
              <a:t>6 Module 6: Infrastructure, Distributed Training &amp; DDP</a:t>
            </a:r>
          </a:p>
          <a:p>
            <a:pPr lvl="0" indent="0" marL="0">
              <a:buNone/>
            </a:pPr>
            <a:r>
              <a:rPr/>
              <a:t>7 Module 7: nanoGPT — Training LLMs from Scratch &amp; SFT</a:t>
            </a:r>
          </a:p>
          <a:p>
            <a:pPr lvl="0" indent="0" marL="0">
              <a:buNone/>
            </a:pPr>
            <a:r>
              <a:rPr/>
              <a:t>8 Module 8: nanoVLM — Multimodal Synthesis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5: Deep Optimization, Lion/Muon &amp; Flat Minima</a:t>
            </a:r>
          </a:p>
        </p:txBody>
      </p:sp>
      <p:sp>
        <p:nvSpPr>
          <p:cNvPr id="3" name="Content Placeholder 2"/>
          <p:cNvSpPr>
            <a:spLocks noGrp="1"/>
          </p:cNvSpPr>
          <p:nvPr>
            <p:ph idx="1"/>
          </p:nvPr>
        </p:nvSpPr>
        <p:spPr/>
        <p:txBody>
          <a:bodyPr/>
          <a:lstStyle/>
          <a:p>
            <a:pPr lvl="0" indent="0" marL="0">
              <a:buNone/>
            </a:pPr>
            <a:r>
              <a:rPr/>
              <a:t>Week 08-09 • Advanced Optimization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 Module 5 Content</a:t>
                </a:r>
              </a:p>
              <a:p>
                <a:pPr lvl="0"/>
                <a:r>
                  <a:rPr b="1"/>
                  <a:t>Beyond Standard AdamW:</a:t>
                </a:r>
                <a:r>
                  <a:rPr/>
                  <a:t> Why coordinate-wise descent struggles on ill-conditioned matrix manifolds.</a:t>
                </a:r>
              </a:p>
              <a:p>
                <a:pPr lvl="0"/>
                <a:r>
                  <a:rPr b="1"/>
                  <a:t>Muon Optimizer:</a:t>
                </a:r>
                <a:r>
                  <a:rPr/>
                  <a:t> Matrix Update Orthogonalization via Newton-Schulz polynomial iterations:</a:t>
                </a:r>
              </a:p>
              <a:p>
                <a:pPr lvl="0"/>
                <a14:m>
                  <m:oMathPara xmlns:m="http://schemas.openxmlformats.org/officeDocument/2006/math">
                    <m:oMathParaPr>
                      <m:jc m:val="center"/>
                    </m:oMathParaPr>
                    <m:oMath>
                      <m:sSub>
                        <m:e>
                          <m:r>
                            <m:t>O</m:t>
                          </m:r>
                        </m:e>
                        <m:sub>
                          <m:r>
                            <m:t>0</m:t>
                          </m:r>
                        </m:sub>
                      </m:sSub>
                      <m:r>
                        <m:rPr>
                          <m:sty m:val="p"/>
                        </m:rPr>
                        <m:t>=</m:t>
                      </m:r>
                      <m:r>
                        <m:t>G</m:t>
                      </m:r>
                      <m:r>
                        <m:rPr>
                          <m:sty m:val="p"/>
                        </m:rPr>
                        <m:t>/</m:t>
                      </m:r>
                      <m:r>
                        <m:rPr>
                          <m:sty m:val="p"/>
                        </m:rPr>
                        <m:t>∥</m:t>
                      </m:r>
                      <m:r>
                        <m:t>G</m:t>
                      </m:r>
                      <m:sSub>
                        <m:e>
                          <m:r>
                            <m:rPr>
                              <m:sty m:val="p"/>
                            </m:rPr>
                            <m:t>∥</m:t>
                          </m:r>
                        </m:e>
                        <m:sub>
                          <m:r>
                            <m:t>F</m:t>
                          </m:r>
                        </m:sub>
                      </m:sSub>
                      <m:r>
                        <m:rPr>
                          <m:sty m:val="p"/>
                        </m:rPr>
                        <m:t>,</m:t>
                      </m:r>
                      <m:r>
                        <m:t> </m:t>
                      </m:r>
                      <m:sSub>
                        <m:e>
                          <m:r>
                            <m:t>O</m:t>
                          </m:r>
                        </m:e>
                        <m:sub>
                          <m:r>
                            <m:t>k</m:t>
                          </m:r>
                          <m:r>
                            <m:rPr>
                              <m:sty m:val="p"/>
                            </m:rPr>
                            <m:t>+</m:t>
                          </m:r>
                          <m:r>
                            <m:t>1</m:t>
                          </m:r>
                        </m:sub>
                      </m:sSub>
                      <m:r>
                        <m:rPr>
                          <m:sty m:val="p"/>
                        </m:rPr>
                        <m:t>=</m:t>
                      </m:r>
                      <m:f>
                        <m:fPr>
                          <m:type m:val="bar"/>
                        </m:fPr>
                        <m:num>
                          <m:r>
                            <m:t>1</m:t>
                          </m:r>
                        </m:num>
                        <m:den>
                          <m:r>
                            <m:t>2</m:t>
                          </m:r>
                        </m:den>
                      </m:f>
                      <m:sSub>
                        <m:e>
                          <m:r>
                            <m:t>O</m:t>
                          </m:r>
                        </m:e>
                        <m:sub>
                          <m:r>
                            <m:t>k</m:t>
                          </m:r>
                        </m:sub>
                      </m:sSub>
                      <m:r>
                        <m:rPr>
                          <m:sty m:val="p"/>
                        </m:rPr>
                        <m:t>(</m:t>
                      </m:r>
                      <m:r>
                        <m:t>3</m:t>
                      </m:r>
                      <m:r>
                        <m:t>I</m:t>
                      </m:r>
                      <m:r>
                        <m:rPr>
                          <m:sty m:val="p"/>
                        </m:rPr>
                        <m:t>−</m:t>
                      </m:r>
                      <m:sSubSup>
                        <m:e>
                          <m:r>
                            <m:t>O</m:t>
                          </m:r>
                        </m:e>
                        <m:sub>
                          <m:r>
                            <m:t>k</m:t>
                          </m:r>
                        </m:sub>
                        <m:sup>
                          <m:r>
                            <m:t>T</m:t>
                          </m:r>
                        </m:sup>
                      </m:sSubSup>
                      <m:sSub>
                        <m:e>
                          <m:r>
                            <m:t>O</m:t>
                          </m:r>
                        </m:e>
                        <m:sub>
                          <m:r>
                            <m:t>k</m:t>
                          </m:r>
                        </m:sub>
                      </m:sSub>
                      <m:r>
                        <m:rPr>
                          <m:sty m:val="p"/>
                        </m:rPr>
                        <m:t>)</m:t>
                      </m:r>
                    </m:oMath>
                  </m:oMathPara>
                </a14:m>
              </a:p>
              <a:p>
                <a:pPr lvl="0"/>
                <a:r>
                  <a:rPr b="1"/>
                  <a:t>Lion Optimizer:</a:t>
                </a:r>
                <a:r>
                  <a:rPr/>
                  <a:t> Sign-momentum evolution for memory-efficient gradient updates.</a:t>
                </a:r>
              </a:p>
              <a:p>
                <a:pPr lvl="0"/>
                <a:r>
                  <a:rPr b="1"/>
                  <a:t>SAM (Sharpness-Aware Minimization):</a:t>
                </a:r>
                <a:r>
                  <a:rPr/>
                  <a:t> Seeking flat minima for superior out-of-distribution generalization:</a:t>
                </a:r>
              </a:p>
              <a:p>
                <a:pPr lvl="0"/>
                <a14:m>
                  <m:oMathPara xmlns:m="http://schemas.openxmlformats.org/officeDocument/2006/math">
                    <m:oMathParaPr>
                      <m:jc m:val="center"/>
                    </m:oMathParaPr>
                    <m:oMath>
                      <m:limLow>
                        <m:e>
                          <m:r>
                            <m:rPr>
                              <m:sty m:val="p"/>
                            </m:rPr>
                            <m:t>min</m:t>
                          </m:r>
                        </m:e>
                        <m:lim>
                          <m:r>
                            <m:t>w</m:t>
                          </m:r>
                        </m:lim>
                      </m:limLow>
                      <m:limLow>
                        <m:e>
                          <m:r>
                            <m:rPr>
                              <m:sty m:val="p"/>
                            </m:rPr>
                            <m:t>max</m:t>
                          </m:r>
                        </m:e>
                        <m:lim>
                          <m:r>
                            <m:rPr>
                              <m:sty m:val="p"/>
                            </m:rPr>
                            <m:t>∥</m:t>
                          </m:r>
                          <m:r>
                            <m:t>ϵ</m:t>
                          </m:r>
                          <m:sSub>
                            <m:e>
                              <m:r>
                                <m:rPr>
                                  <m:sty m:val="p"/>
                                </m:rPr>
                                <m:t>∥</m:t>
                              </m:r>
                            </m:e>
                            <m:sub>
                              <m:r>
                                <m:t>2</m:t>
                              </m:r>
                            </m:sub>
                          </m:sSub>
                          <m:r>
                            <m:rPr>
                              <m:sty m:val="p"/>
                            </m:rPr>
                            <m:t>≤</m:t>
                          </m:r>
                          <m:r>
                            <m:t>ρ</m:t>
                          </m:r>
                        </m:lim>
                      </m:limLow>
                      <m:r>
                        <m:rPr>
                          <m:scr m:val="script"/>
                          <m:sty m:val="p"/>
                        </m:rPr>
                        <m:t>L</m:t>
                      </m:r>
                      <m:r>
                        <m:rPr>
                          <m:sty m:val="p"/>
                        </m:rPr>
                        <m:t>(</m:t>
                      </m:r>
                      <m:r>
                        <m:t>w</m:t>
                      </m:r>
                      <m:r>
                        <m:rPr>
                          <m:sty m:val="p"/>
                        </m:rPr>
                        <m:t>+</m:t>
                      </m:r>
                      <m:r>
                        <m:t>ϵ</m:t>
                      </m:r>
                      <m:r>
                        <m:rPr>
                          <m:sty m:val="p"/>
                        </m:rPr>
                        <m:t>)</m:t>
                      </m:r>
                    </m:oMath>
                  </m:oMathPara>
                </a14:m>
              </a:p>
              <a:p>
                <a:pPr lvl="0"/>
                <a:r>
                  <a:rPr b="1"/>
                  <a:t>Scaling Laws:</a:t>
                </a:r>
                <a:r>
                  <a:rPr/>
                  <a:t> Compute-optimal training tradeoffs (Chinchilla, Kaplan).</a:t>
                </a:r>
              </a:p>
              <a:p>
                <a:pPr lvl="0" indent="0" marL="0">
                  <a:buNone/>
                </a:pPr>
                <a:r>
                  <a:rPr/>
                  <a:t>💻 Seminar 5</a:t>
                </a:r>
              </a:p>
              <a:p>
                <a:pPr lvl="0"/>
                <a:r>
                  <a:rPr/>
                  <a:t>Parameter group splitting: e.g. Muon for 2D weight matrices, AdamW for embeddings and norm layers.</a:t>
                </a:r>
              </a:p>
            </p:txBody>
          </p:sp>
        </mc:Choice>
      </mc:AlternateContent>
      <p:sp>
        <p:nvSpPr>
          <p:cNvPr id="4" name="Content Placeholder 3"/>
          <p:cNvSpPr>
            <a:spLocks noGrp="1"/>
          </p:cNvSpPr>
          <p:nvPr>
            <p:ph idx="2" sz="half"/>
          </p:nvPr>
        </p:nvSpPr>
        <p:spPr/>
        <p:txBody>
          <a:bodyPr/>
          <a:lstStyle/>
          <a:p>
            <a:pPr lvl="0" indent="0" marL="0">
              <a:buNone/>
            </a:pPr>
            <a:r>
              <a:rPr/>
              <a:t>🎯 Module 5 Homework</a:t>
            </a:r>
          </a:p>
          <a:p>
            <a:pPr lvl="0" indent="0" marL="0">
              <a:buNone/>
            </a:pPr>
            <a:r>
              <a:rPr/>
              <a:t>HW8: Advanced local distillation + Importance estimations from HW6</a:t>
            </a:r>
          </a:p>
          <a:p>
            <a:pPr lvl="0" indent="-342900" marL="342900">
              <a:buAutoNum type="arabicPeriod"/>
            </a:pPr>
            <a:r>
              <a:rPr/>
              <a:t>Extend the local distillation pipeline from </a:t>
            </a:r>
            <a:r>
              <a:rPr b="1"/>
              <a:t>HW7</a:t>
            </a:r>
            <a:r>
              <a:rPr/>
              <a:t>.</a:t>
            </a:r>
          </a:p>
          <a:p>
            <a:pPr lvl="0" indent="-342900" marL="342900">
              <a:buAutoNum type="arabicPeriod"/>
            </a:pPr>
            <a:r>
              <a:rPr/>
              <a:t>Use the importance estimates from </a:t>
            </a:r>
            <a:r>
              <a:rPr b="1"/>
              <a:t>HW6</a:t>
            </a:r>
            <a:r>
              <a:rPr/>
              <a:t> to select operators or weight the feature loss.</a:t>
            </a:r>
          </a:p>
          <a:p>
            <a:pPr lvl="0" indent="-342900" marL="342900">
              <a:buAutoNum type="arabicPeriod"/>
            </a:pPr>
            <a:r>
              <a:rPr/>
              <a:t>Compare optimization choices, including Muon or Lion.</a:t>
            </a:r>
          </a:p>
          <a:p>
            <a:pPr lvl="0" indent="-342900" marL="342900">
              <a:buAutoNum type="arabicPeriod"/>
            </a:pPr>
            <a:r>
              <a:rPr/>
              <a:t>Evaluate convergence and the tradeoff between quality, latency and memory.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6: Infrastructure, Distributed Training &amp; DDP</a:t>
            </a:r>
          </a:p>
        </p:txBody>
      </p:sp>
      <p:sp>
        <p:nvSpPr>
          <p:cNvPr id="3" name="Content Placeholder 2"/>
          <p:cNvSpPr>
            <a:spLocks noGrp="1"/>
          </p:cNvSpPr>
          <p:nvPr>
            <p:ph idx="1"/>
          </p:nvPr>
        </p:nvSpPr>
        <p:spPr/>
        <p:txBody>
          <a:bodyPr/>
          <a:lstStyle/>
          <a:p>
            <a:pPr lvl="0" indent="0" marL="0">
              <a:buNone/>
            </a:pPr>
            <a:r>
              <a:rPr/>
              <a:t>Week 10 • Parallel &amp; High-Throughput Compute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 Module 6 Content</a:t>
            </a:r>
          </a:p>
          <a:p>
            <a:pPr lvl="0"/>
            <a:r>
              <a:rPr b="1"/>
              <a:t>Parallelism Taxonomy:</a:t>
            </a:r>
            <a:r>
              <a:rPr/>
              <a:t> Data Parallel (DP), Tensor Parallel (Megatron-LM), Pipeline Parallel, Sequence Parallel.</a:t>
            </a:r>
          </a:p>
          <a:p>
            <a:pPr lvl="0"/>
            <a:r>
              <a:rPr b="1"/>
              <a:t>Distributed Systems:</a:t>
            </a:r>
            <a:r>
              <a:rPr/>
              <a:t> DDP (DistributedDataParallel), ZeRO-1/2/3, and PyTorch FSDP (Fully Sharded Data Parallel).</a:t>
            </a:r>
          </a:p>
          <a:p>
            <a:pPr lvl="0"/>
            <a:r>
              <a:rPr b="1"/>
              <a:t>GPU Memory Anatomy:</a:t>
            </a:r>
            <a:r>
              <a:rPr/>
              <a:t> Model weights, gradients, optimizer states, activations. Offloading &amp; activation checkpointing.</a:t>
            </a:r>
          </a:p>
          <a:p>
            <a:pPr lvl="0"/>
            <a:r>
              <a:rPr b="1"/>
              <a:t>Mixed Precision:</a:t>
            </a:r>
            <a:r>
              <a:rPr/>
              <a:t> FP16, BF16, FP8 dynamic loss scaling.</a:t>
            </a:r>
          </a:p>
          <a:p>
            <a:pPr lvl="0"/>
            <a:r>
              <a:rPr b="1"/>
              <a:t>High-Throughput DataLoader:</a:t>
            </a:r>
            <a:r>
              <a:rPr/>
              <a:t> Prefetching, </a:t>
            </a:r>
            <a:r>
              <a:rPr>
                <a:latin typeface="Courier"/>
              </a:rPr>
              <a:t>num_workers</a:t>
            </a:r>
            <a:r>
              <a:rPr/>
              <a:t>, pinned memory, online augmentation.</a:t>
            </a:r>
          </a:p>
          <a:p>
            <a:pPr lvl="0"/>
            <a:r>
              <a:rPr b="1"/>
              <a:t>Reproducibility:</a:t>
            </a:r>
            <a:r>
              <a:rPr/>
              <a:t> DVC, Git-LFS, MLflow, Weights &amp; Biases.</a:t>
            </a:r>
          </a:p>
          <a:p>
            <a:pPr lvl="0" indent="0" marL="0">
              <a:buNone/>
            </a:pPr>
            <a:r>
              <a:rPr/>
              <a:t>💻 Seminar 6</a:t>
            </a:r>
          </a:p>
          <a:p>
            <a:pPr lvl="0"/>
            <a:r>
              <a:rPr/>
              <a:t>Distributed launch configuration via </a:t>
            </a:r>
            <a:r>
              <a:rPr b="1"/>
              <a:t>Hugging Face Accelerate</a:t>
            </a:r>
            <a:r>
              <a:rPr/>
              <a:t>.</a:t>
            </a:r>
          </a:p>
          <a:p>
            <a:pPr lvl="0"/>
            <a:r>
              <a:rPr/>
              <a:t>Tracking systems integration: </a:t>
            </a:r>
            <a:r>
              <a:rPr b="1"/>
              <a:t>MLflow, Weights &amp; Biases, Python Fire</a:t>
            </a:r>
            <a:r>
              <a:rPr/>
              <a:t>.</a:t>
            </a:r>
          </a:p>
        </p:txBody>
      </p:sp>
      <p:sp>
        <p:nvSpPr>
          <p:cNvPr id="4" name="Content Placeholder 3"/>
          <p:cNvSpPr>
            <a:spLocks noGrp="1"/>
          </p:cNvSpPr>
          <p:nvPr>
            <p:ph idx="2" sz="half"/>
          </p:nvPr>
        </p:nvSpPr>
        <p:spPr/>
        <p:txBody>
          <a:bodyPr/>
          <a:lstStyle/>
          <a:p>
            <a:pPr lvl="0" indent="0" marL="0">
              <a:buNone/>
            </a:pPr>
            <a:r>
              <a:rPr/>
              <a:t>🎯 Module 6 Homework</a:t>
            </a:r>
          </a:p>
          <a:p>
            <a:pPr lvl="0" indent="0" marL="0">
              <a:buNone/>
            </a:pPr>
            <a:r>
              <a:rPr/>
              <a:t>HW9: Infrastructure HW</a:t>
            </a:r>
          </a:p>
          <a:p>
            <a:pPr lvl="0" indent="-342900" marL="342900">
              <a:buAutoNum type="arabicPeriod"/>
            </a:pPr>
            <a:r>
              <a:rPr/>
              <a:t>Configure reproducible training and evaluation runs.</a:t>
            </a:r>
          </a:p>
          <a:p>
            <a:pPr lvl="0" indent="-342900" marL="342900">
              <a:buAutoNum type="arabicPeriod"/>
            </a:pPr>
            <a:r>
              <a:rPr/>
              <a:t>Set up distributed launch with </a:t>
            </a:r>
            <a:r>
              <a:rPr>
                <a:latin typeface="Courier"/>
              </a:rPr>
              <a:t>accelerate launch</a:t>
            </a:r>
            <a:r>
              <a:rPr/>
              <a:t> or </a:t>
            </a:r>
            <a:r>
              <a:rPr>
                <a:latin typeface="Courier"/>
              </a:rPr>
              <a:t>torchrun</a:t>
            </a:r>
            <a:r>
              <a:rPr/>
              <a:t> when multiple GPUs are available.</a:t>
            </a:r>
          </a:p>
          <a:p>
            <a:pPr lvl="0" indent="-342900" marL="342900">
              <a:buAutoNum type="arabicPeriod"/>
            </a:pPr>
            <a:r>
              <a:rPr/>
              <a:t>Compare runtime and memory with a single-GPU baseline.</a:t>
            </a:r>
          </a:p>
          <a:p>
            <a:pPr lvl="0" indent="-342900" marL="342900">
              <a:buAutoNum type="arabicPeriod"/>
            </a:pPr>
            <a:r>
              <a:rPr/>
              <a:t>Record configs, checkpoints and experiment metrics.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7: nanoGPT/Qwen2.5 — Training LLMs from Scratch &amp; SFT</a:t>
            </a:r>
          </a:p>
        </p:txBody>
      </p:sp>
      <p:sp>
        <p:nvSpPr>
          <p:cNvPr id="3" name="Content Placeholder 2"/>
          <p:cNvSpPr>
            <a:spLocks noGrp="1"/>
          </p:cNvSpPr>
          <p:nvPr>
            <p:ph idx="1"/>
          </p:nvPr>
        </p:nvSpPr>
        <p:spPr/>
        <p:txBody>
          <a:bodyPr/>
          <a:lstStyle/>
          <a:p>
            <a:pPr lvl="0" indent="0" marL="0">
              <a:buNone/>
            </a:pPr>
            <a:r>
              <a:rPr/>
              <a:t>Week 11 • Large Language Architectures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 Module 7 Content</a:t>
            </a:r>
          </a:p>
          <a:p>
            <a:pPr lvl="0"/>
            <a:r>
              <a:rPr b="1"/>
              <a:t>nanoGPT from Scratch:</a:t>
            </a:r>
            <a:r>
              <a:rPr/>
              <a:t> BPE tokenization, Causal Self-Attention, KV-cache, Weight Tying.</a:t>
            </a:r>
          </a:p>
          <a:p>
            <a:pPr lvl="0"/>
            <a:r>
              <a:rPr b="1"/>
              <a:t>Modern LLM Architecture:</a:t>
            </a:r>
            <a:r>
              <a:rPr/>
              <a:t> RoPE (Rotary Position Embeddings), RMSNorm, QK-RMSNorm, SwiGLU, GQA (Grouped-Query Attention).</a:t>
            </a:r>
          </a:p>
          <a:p>
            <a:pPr lvl="0"/>
            <a:r>
              <a:rPr b="1"/>
              <a:t>Architectural Audit:</a:t>
            </a:r>
            <a:r>
              <a:rPr/>
              <a:t> In-depth code walkthrough of </a:t>
            </a:r>
            <a:r>
              <a:rPr b="1"/>
              <a:t>Qwen2.5-1.5B</a:t>
            </a:r>
            <a:r>
              <a:rPr/>
              <a:t>.</a:t>
            </a:r>
          </a:p>
          <a:p>
            <a:pPr lvl="0"/>
            <a:r>
              <a:rPr b="1"/>
              <a:t>Pretraining vs SFT:</a:t>
            </a:r>
            <a:r>
              <a:rPr/>
              <a:t> Next-token loss, ChatML templating, masking user prompt tokens.</a:t>
            </a:r>
          </a:p>
          <a:p>
            <a:pPr lvl="0"/>
            <a:r>
              <a:rPr b="1"/>
              <a:t>PEFT (LoRA &amp; QLoRA):</a:t>
            </a:r>
            <a:r>
              <a:rPr/>
              <a:t> NormalFloat4 (NF4) quantization, double quantization, paged optimizers.</a:t>
            </a:r>
          </a:p>
          <a:p>
            <a:pPr lvl="0"/>
            <a:r>
              <a:rPr b="1"/>
              <a:t>LLM Benchmarking:</a:t>
            </a:r>
            <a:r>
              <a:rPr/>
              <a:t> GSM8K, Math500, MMLU, pass@k, contamination detection.</a:t>
            </a:r>
          </a:p>
          <a:p>
            <a:pPr lvl="0" indent="0" marL="0">
              <a:buNone/>
            </a:pPr>
            <a:r>
              <a:rPr/>
              <a:t>💻 Seminar 7</a:t>
            </a:r>
          </a:p>
          <a:p>
            <a:pPr lvl="0"/>
            <a:r>
              <a:rPr/>
              <a:t>Capstone training scripts: configuring train/eval loops, profiling token throughput and memory.</a:t>
            </a:r>
          </a:p>
        </p:txBody>
      </p:sp>
      <p:sp>
        <p:nvSpPr>
          <p:cNvPr id="4" name="Content Placeholder 3"/>
          <p:cNvSpPr>
            <a:spLocks noGrp="1"/>
          </p:cNvSpPr>
          <p:nvPr>
            <p:ph idx="2" sz="half"/>
          </p:nvPr>
        </p:nvSpPr>
        <p:spPr/>
        <p:txBody>
          <a:bodyPr/>
          <a:lstStyle/>
          <a:p>
            <a:pPr lvl="0" indent="0" marL="0">
              <a:buNone/>
            </a:pPr>
            <a:r>
              <a:rPr/>
              <a:t>🎯 Final Capstone Project</a:t>
            </a:r>
          </a:p>
          <a:p>
            <a:pPr lvl="0" indent="0" marL="0">
              <a:buNone/>
            </a:pPr>
            <a:r>
              <a:rPr/>
              <a:t>HW10: Project</a:t>
            </a:r>
          </a:p>
          <a:p>
            <a:pPr lvl="0" indent="-342900" marL="342900">
              <a:buAutoNum type="arabicPeriod"/>
            </a:pPr>
            <a:r>
              <a:rPr/>
              <a:t>Train or adapt the model for the chosen task.</a:t>
            </a:r>
          </a:p>
          <a:p>
            <a:pPr lvl="0" indent="-342900" marL="342900">
              <a:buAutoNum type="arabicPeriod"/>
            </a:pPr>
            <a:r>
              <a:rPr/>
              <a:t>Compare the final result with the </a:t>
            </a:r>
            <a:r>
              <a:rPr b="1"/>
              <a:t>HW0</a:t>
            </a:r>
            <a:r>
              <a:rPr/>
              <a:t> baseline.</a:t>
            </a:r>
          </a:p>
          <a:p>
            <a:pPr lvl="0" indent="-342900" marL="342900">
              <a:buAutoNum type="arabicPeriod"/>
            </a:pPr>
            <a:r>
              <a:rPr/>
              <a:t>Prepare a reproducible repository, results, demo and final presentation.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8: nanoVLM — Multimodal Synthesis</a:t>
            </a:r>
          </a:p>
        </p:txBody>
      </p:sp>
      <p:sp>
        <p:nvSpPr>
          <p:cNvPr id="3" name="Content Placeholder 2"/>
          <p:cNvSpPr>
            <a:spLocks noGrp="1"/>
          </p:cNvSpPr>
          <p:nvPr>
            <p:ph idx="1"/>
          </p:nvPr>
        </p:nvSpPr>
        <p:spPr/>
        <p:txBody>
          <a:bodyPr/>
          <a:lstStyle/>
          <a:p>
            <a:pPr lvl="0" indent="0" marL="0">
              <a:buNone/>
            </a:pPr>
            <a:r>
              <a:rPr/>
              <a:t>Week 12 • Multimodal Frontier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 Module 8 Content</a:t>
            </a:r>
          </a:p>
          <a:p>
            <a:pPr lvl="0"/>
            <a:r>
              <a:rPr b="1"/>
              <a:t>VLM Architecture:</a:t>
            </a:r>
            <a:r>
              <a:rPr/>
              <a:t> Unifying visual and language representation manifolds.</a:t>
            </a:r>
          </a:p>
          <a:p>
            <a:pPr lvl="0"/>
            <a:r>
              <a:rPr b="1"/>
              <a:t>Core Components:</a:t>
            </a:r>
            <a:r>
              <a:rPr/>
              <a:t> Visual backbone (ViT, SigLIP), cross-modal projectors (MLP Projector vs Resampler), LLM decoder.</a:t>
            </a:r>
          </a:p>
          <a:p>
            <a:pPr lvl="0"/>
            <a:r>
              <a:rPr b="1"/>
              <a:t>Fusion Mechanisms:</a:t>
            </a:r>
            <a:r>
              <a:rPr/>
              <a:t> Prefix tokens, Cross-Attention, contrastive CLIP/SigLIP objectives.</a:t>
            </a:r>
          </a:p>
          <a:p>
            <a:pPr lvl="0"/>
            <a:r>
              <a:rPr b="1"/>
              <a:t>Data &amp; Training:</a:t>
            </a:r>
            <a:r>
              <a:rPr/>
              <a:t> Image-text instruction pairs, dynamic patch slicing (AnyRes).</a:t>
            </a:r>
          </a:p>
          <a:p>
            <a:pPr lvl="0" indent="0" marL="0">
              <a:buNone/>
            </a:pPr>
            <a:r>
              <a:rPr/>
              <a:t>💻 Seminar 8</a:t>
            </a:r>
          </a:p>
          <a:p>
            <a:pPr lvl="0"/>
            <a:r>
              <a:rPr/>
              <a:t>Empirical comparison of multimodal fusion strategies: convergence rates, zero-shot quality, and compute budgets.</a:t>
            </a:r>
          </a:p>
        </p:txBody>
      </p:sp>
      <p:sp>
        <p:nvSpPr>
          <p:cNvPr id="4" name="Content Placeholder 3"/>
          <p:cNvSpPr>
            <a:spLocks noGrp="1"/>
          </p:cNvSpPr>
          <p:nvPr>
            <p:ph idx="2" sz="half"/>
          </p:nvPr>
        </p:nvSpPr>
        <p:spPr/>
        <p:txBody>
          <a:bodyPr/>
          <a:lstStyle/>
          <a:p>
            <a:pPr lvl="0" indent="0" marL="0">
              <a:buNone/>
            </a:pPr>
            <a:r>
              <a:rPr/>
              <a:t>✨ NO NEW HOMEWORK ASSIGNED</a:t>
            </a:r>
          </a:p>
          <a:p>
            <a:pPr lvl="0" indent="0" marL="0">
              <a:buNone/>
            </a:pPr>
            <a:r>
              <a:rPr/>
              <a:t>No new homework assignment is issued in Module 8!</a:t>
            </a:r>
          </a:p>
          <a:p>
            <a:pPr lvl="0" indent="0" marL="0">
              <a:buNone/>
            </a:pPr>
            <a:r>
              <a:rPr/>
              <a:t>All student time and compute budget is dedicated to:</a:t>
            </a:r>
          </a:p>
          <a:p>
            <a:pPr lvl="0" indent="-342900" marL="342900">
              <a:buAutoNum type="arabicPeriod"/>
            </a:pPr>
            <a:r>
              <a:rPr/>
              <a:t>Finalizing training runs and ablation studies for </a:t>
            </a:r>
            <a:r>
              <a:rPr b="1"/>
              <a:t>HW10</a:t>
            </a:r>
            <a:r>
              <a:rPr/>
              <a:t>;</a:t>
            </a:r>
          </a:p>
          <a:p>
            <a:pPr lvl="0" indent="-342900" marL="342900">
              <a:buAutoNum type="arabicPeriod"/>
            </a:pPr>
            <a:r>
              <a:rPr/>
              <a:t>Validating metrics on held-out test benchmarks;</a:t>
            </a:r>
          </a:p>
          <a:p>
            <a:pPr lvl="0" indent="-342900" marL="342900">
              <a:buAutoNum type="arabicPeriod"/>
            </a:pPr>
            <a:r>
              <a:rPr/>
              <a:t>Preparing the final project slide deck, demo, and technical defense.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Curated Capstone Projects Catalog (1/2)</a:t>
            </a:r>
          </a:p>
        </p:txBody>
      </p:sp>
      <p:sp>
        <p:nvSpPr>
          <p:cNvPr id="3" name="Content Placeholder 2"/>
          <p:cNvSpPr>
            <a:spLocks noGrp="1"/>
          </p:cNvSpPr>
          <p:nvPr>
            <p:ph idx="1"/>
          </p:nvPr>
        </p:nvSpPr>
        <p:spPr/>
        <p:txBody>
          <a:bodyPr/>
          <a:lstStyle/>
          <a:p>
            <a:pPr lvl="0" indent="0" marL="0">
              <a:buNone/>
            </a:pPr>
            <a:r>
              <a:rPr/>
              <a:t>Select Your Semester Track · Click a card to explore</a:t>
            </a:r>
          </a:p>
          <a:p>
            <a:pPr lvl="0" indent="0" marL="0">
              <a:buNone/>
            </a:pPr>
            <a:r>
              <a:rPr/>
              <a:t>01. DreamBooth Personalization</a:t>
            </a:r>
          </a:p>
          <a:p>
            <a:pPr lvl="0"/>
            <a:r>
              <a:rPr b="1"/>
              <a:t>SOTA / Baseline:</a:t>
            </a:r>
            <a:r>
              <a:rPr/>
              <a:t> FLUX.2 / SDXL / Stable Diffusion 1.5.</a:t>
            </a:r>
          </a:p>
          <a:p>
            <a:pPr lvl="0"/>
            <a:r>
              <a:rPr b="1"/>
              <a:t>Dataset:</a:t>
            </a:r>
            <a:r>
              <a:rPr/>
              <a:t> Custom dataset (5–10 reference photos).</a:t>
            </a:r>
          </a:p>
          <a:p>
            <a:pPr lvl="0"/>
            <a:r>
              <a:rPr b="1"/>
              <a:t>Metrics:</a:t>
            </a:r>
            <a:r>
              <a:rPr/>
              <a:t> DINO-I, CLIP-I, CLIP-T, FID.</a:t>
            </a:r>
          </a:p>
          <a:p>
            <a:pPr lvl="0"/>
            <a:r>
              <a:rPr b="1"/>
              <a:t>Focus:</a:t>
            </a:r>
            <a:r>
              <a:rPr/>
              <a:t> Fine-tuning diffusion models for rare personalized objects.</a:t>
            </a:r>
          </a:p>
          <a:p>
            <a:pPr lvl="0" indent="0" marL="0">
              <a:buNone/>
            </a:pPr>
            <a:r>
              <a:rPr/>
              <a:t>02. Textual Inversion</a:t>
            </a:r>
          </a:p>
          <a:p>
            <a:pPr lvl="0"/>
            <a:r>
              <a:rPr b="1"/>
              <a:t>SOTA / Baseline:</a:t>
            </a:r>
            <a:r>
              <a:rPr/>
              <a:t> FLUX.2 / SDXL / SD 1.5.</a:t>
            </a:r>
          </a:p>
          <a:p>
            <a:pPr lvl="0"/>
            <a:r>
              <a:rPr b="1"/>
              <a:t>Dataset:</a:t>
            </a:r>
            <a:r>
              <a:rPr/>
              <a:t> 5–10 subject photos, LAION subset.</a:t>
            </a:r>
          </a:p>
          <a:p>
            <a:pPr lvl="0"/>
            <a:r>
              <a:rPr b="1"/>
              <a:t>Metrics:</a:t>
            </a:r>
            <a:r>
              <a:rPr/>
              <a:t> DINO-I, CLIP-I, CLIP-T, GenEval.</a:t>
            </a:r>
          </a:p>
          <a:p>
            <a:pPr lvl="0"/>
            <a:r>
              <a:rPr b="1"/>
              <a:t>Focus:</a:t>
            </a:r>
            <a:r>
              <a:rPr/>
              <a:t> Learning pseudo-tokens in embedding space without changing weights.</a:t>
            </a:r>
          </a:p>
          <a:p>
            <a:pPr lvl="0" indent="0" marL="0">
              <a:buNone/>
            </a:pPr>
            <a:r>
              <a:rPr/>
              <a:t>03. YOLOv10: Weapon Detection</a:t>
            </a:r>
          </a:p>
          <a:p>
            <a:pPr lvl="0"/>
            <a:r>
              <a:rPr b="1"/>
              <a:t>SOTA / Baseline:</a:t>
            </a:r>
            <a:r>
              <a:rPr/>
              <a:t> YOLOv10S / YOLOv10M.</a:t>
            </a:r>
          </a:p>
          <a:p>
            <a:pPr lvl="0"/>
            <a:r>
              <a:rPr b="1"/>
              <a:t>Dataset:</a:t>
            </a:r>
            <a:r>
              <a:rPr/>
              <a:t> WeaponDetection / Action Recognition Dataset.</a:t>
            </a:r>
          </a:p>
          <a:p>
            <a:pPr lvl="0"/>
            <a:r>
              <a:rPr b="1"/>
              <a:t>Metrics:</a:t>
            </a:r>
            <a:r>
              <a:rPr/>
              <a:t> mAP@50:95, Miss Rate, False Positive Rate, Latency.</a:t>
            </a:r>
          </a:p>
          <a:p>
            <a:pPr lvl="0"/>
            <a:r>
              <a:rPr b="1"/>
              <a:t>Focus:</a:t>
            </a:r>
            <a:r>
              <a:rPr/>
              <a:t> Real-time weapon detection in video streams with automated censorship blur.</a:t>
            </a:r>
          </a:p>
          <a:p>
            <a:pPr lvl="0" indent="0" marL="0">
              <a:buNone/>
            </a:pPr>
            <a:r>
              <a:rPr/>
              <a:t>04. LoRA Qwen2.5: SQL Generation</a:t>
            </a:r>
          </a:p>
          <a:p>
            <a:pPr lvl="0"/>
            <a:r>
              <a:rPr b="1"/>
              <a:t>SOTA / Baseline:</a:t>
            </a:r>
            <a:r>
              <a:rPr/>
              <a:t> Claude Fable / Qwen2.5-Coder-1.5B-Instruct.</a:t>
            </a:r>
          </a:p>
          <a:p>
            <a:pPr lvl="0"/>
            <a:r>
              <a:rPr b="1"/>
              <a:t>Dataset:</a:t>
            </a:r>
            <a:r>
              <a:rPr/>
              <a:t> </a:t>
            </a:r>
            <a:r>
              <a:rPr>
                <a:latin typeface="Courier"/>
              </a:rPr>
              <a:t>b-mc2/sql-create-context</a:t>
            </a:r>
            <a:r>
              <a:rPr/>
              <a:t> + custom SQLite DB.</a:t>
            </a:r>
          </a:p>
          <a:p>
            <a:pPr lvl="0"/>
            <a:r>
              <a:rPr b="1"/>
              <a:t>Metrics:</a:t>
            </a:r>
            <a:r>
              <a:rPr/>
              <a:t> Execution Accuracy (EX), Exact Match (EM), Valid SQL.</a:t>
            </a:r>
          </a:p>
          <a:p>
            <a:pPr lvl="0"/>
            <a:r>
              <a:rPr b="1"/>
              <a:t>Focus:</a:t>
            </a:r>
            <a:r>
              <a:rPr/>
              <a:t> Generating exact SQL queries for complex database schemas.</a:t>
            </a:r>
          </a:p>
          <a:p>
            <a:pPr lvl="0" indent="0" marL="0">
              <a:buNone/>
            </a:pPr>
            <a:r>
              <a:rPr/>
              <a:t>05. LoRA Qwen2.5: Structured JSON</a:t>
            </a:r>
          </a:p>
          <a:p>
            <a:pPr lvl="0"/>
            <a:r>
              <a:rPr b="1"/>
              <a:t>SOTA / Baseline:</a:t>
            </a:r>
            <a:r>
              <a:rPr/>
              <a:t> Claude Fable / Qwen2.5-Coder-1.5B-Instruct.</a:t>
            </a:r>
          </a:p>
          <a:p>
            <a:pPr lvl="0"/>
            <a:r>
              <a:rPr b="1"/>
              <a:t>Dataset:</a:t>
            </a:r>
            <a:r>
              <a:rPr/>
              <a:t> SchemaBench / JSONSchemaBench (10k schemas).</a:t>
            </a:r>
          </a:p>
          <a:p>
            <a:pPr lvl="0"/>
            <a:r>
              <a:rPr b="1"/>
              <a:t>Metrics:</a:t>
            </a:r>
            <a:r>
              <a:rPr/>
              <a:t> Schema Adherence Accuracy, Valid JSON, Degradation.</a:t>
            </a:r>
          </a:p>
          <a:p>
            <a:pPr lvl="0"/>
            <a:r>
              <a:rPr b="1"/>
              <a:t>Focus:</a:t>
            </a:r>
            <a:r>
              <a:rPr/>
              <a:t> Strict schema adherence without hallucinations.</a:t>
            </a:r>
          </a:p>
          <a:p>
            <a:pPr lvl="0" indent="0" marL="0">
              <a:buNone/>
            </a:pPr>
            <a:r>
              <a:rPr/>
              <a:t>06. Audio-to-Image Adapter</a:t>
            </a:r>
          </a:p>
          <a:p>
            <a:pPr lvl="0"/>
            <a:r>
              <a:rPr b="1"/>
              <a:t>SOTA / Baseline:</a:t>
            </a:r>
            <a:r>
              <a:rPr/>
              <a:t> FLUX.2 / Stable Diffusion 1.5.</a:t>
            </a:r>
          </a:p>
          <a:p>
            <a:pPr lvl="0"/>
            <a:r>
              <a:rPr b="1"/>
              <a:t>Dataset:</a:t>
            </a:r>
            <a:r>
              <a:rPr/>
              <a:t> MUImage (9,966 music-image pairs, 27.7h audio).</a:t>
            </a:r>
          </a:p>
          <a:p>
            <a:pPr lvl="0"/>
            <a:r>
              <a:rPr b="1"/>
              <a:t>Metrics:</a:t>
            </a:r>
            <a:r>
              <a:rPr/>
              <a:t> CLIP-A (audio-visual alignment), CLIP-I, FID.</a:t>
            </a:r>
          </a:p>
          <a:p>
            <a:pPr lvl="0"/>
            <a:r>
              <a:rPr b="1"/>
              <a:t>Focus:</a:t>
            </a:r>
            <a:r>
              <a:rPr/>
              <a:t> Conditioning diffusion image synthesis with audio features.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Curated Capstone Projects Catalog (2/2)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Select Your Semester Track · Click a card to explore</a:t>
                </a:r>
              </a:p>
              <a:p>
                <a:pPr lvl="0" indent="0" marL="0">
                  <a:buNone/>
                </a:pPr>
                <a:r>
                  <a:rPr/>
                  <a:t>07. Object Removal &amp; Inpainting</a:t>
                </a:r>
              </a:p>
              <a:p>
                <a:pPr lvl="0"/>
                <a:r>
                  <a:rPr b="1"/>
                  <a:t>SOTA / Baseline:</a:t>
                </a:r>
                <a:r>
                  <a:rPr/>
                  <a:t> FLUX.2 / SDXL / SD 1.5.</a:t>
                </a:r>
              </a:p>
              <a:p>
                <a:pPr lvl="0"/>
                <a:r>
                  <a:rPr b="1"/>
                  <a:t>Dataset:</a:t>
                </a:r>
                <a:r>
                  <a:rPr/>
                  <a:t> RemovalBench (paired input/ground-truth frames).</a:t>
                </a:r>
              </a:p>
              <a:p>
                <a:pPr lvl="0"/>
                <a:r>
                  <a:rPr b="1"/>
                  <a:t>Metrics:</a:t>
                </a:r>
                <a:r>
                  <a:rPr/>
                  <a:t> FID, LPIPS, GenEval, CLIP-T.</a:t>
                </a:r>
              </a:p>
              <a:p>
                <a:pPr lvl="0"/>
                <a:r>
                  <a:rPr b="1"/>
                  <a:t>Focus:</a:t>
                </a:r>
                <a:r>
                  <a:rPr/>
                  <a:t> Consistent object removal and background texture reconstruction.</a:t>
                </a:r>
              </a:p>
              <a:p>
                <a:pPr lvl="0" indent="0" marL="0">
                  <a:buNone/>
                </a:pPr>
                <a:r>
                  <a:rPr/>
                  <a:t>08. Lyrics Transcription</a:t>
                </a:r>
              </a:p>
              <a:p>
                <a:pPr lvl="0"/>
                <a:r>
                  <a:rPr b="1"/>
                  <a:t>SOTA / Baseline:</a:t>
                </a:r>
                <a:r>
                  <a:rPr/>
                  <a:t> ElevenLabs Scribe v2 / Whisper Large-v3-Turbo.</a:t>
                </a:r>
              </a:p>
              <a:p>
                <a:pPr lvl="0"/>
                <a:r>
                  <a:rPr b="1"/>
                  <a:t>Dataset:</a:t>
                </a:r>
                <a:r>
                  <a:rPr/>
                  <a:t> M4Singer (29.7 hours of singing vocals, 419 songs).</a:t>
                </a:r>
              </a:p>
              <a:p>
                <a:pPr lvl="0"/>
                <a:r>
                  <a:rPr b="1"/>
                  <a:t>Metrics:</a:t>
                </a:r>
                <a:r>
                  <a:rPr/>
                  <a:t> WER, CER, Punctuation F1, Word Timestamps.</a:t>
                </a:r>
              </a:p>
              <a:p>
                <a:pPr lvl="0"/>
                <a:r>
                  <a:rPr b="1"/>
                  <a:t>Focus:</a:t>
                </a:r>
                <a:r>
                  <a:rPr/>
                  <a:t> Accurate word-level lyrics transcription with precise timestamp alignment.</a:t>
                </a:r>
              </a:p>
              <a:p>
                <a:pPr lvl="0" indent="0" marL="0">
                  <a:buNone/>
                </a:pPr>
                <a:r>
                  <a:rPr/>
                  <a:t>09. Hair Unsharpen Enhancement</a:t>
                </a:r>
              </a:p>
              <a:p>
                <a:pPr lvl="0"/>
                <a:r>
                  <a:rPr b="1"/>
                  <a:t>SOTA / Baseline:</a:t>
                </a:r>
                <a:r>
                  <a:rPr/>
                  <a:t> SAM 2.1 / SAM 1.</a:t>
                </a:r>
              </a:p>
              <a:p>
                <a:pPr lvl="0"/>
                <a:r>
                  <a:rPr b="1"/>
                  <a:t>Dataset:</a:t>
                </a:r>
                <a:r>
                  <a:rPr/>
                  <a:t> LaPa Dataset (Face parsing benchmark).</a:t>
                </a:r>
              </a:p>
              <a:p>
                <a:pPr lvl="0"/>
                <a:r>
                  <a:rPr b="1"/>
                  <a:t>Metrics:</a:t>
                </a:r>
                <a:r>
                  <a:rPr/>
                  <a:t> IoU, Dice/F1, Boundary F1, visual sharpness.</a:t>
                </a:r>
              </a:p>
              <a:p>
                <a:pPr lvl="0"/>
                <a:r>
                  <a:rPr b="1"/>
                  <a:t>Focus:</a:t>
                </a:r>
                <a:r>
                  <a:rPr/>
                  <a:t> Hair segmentation and frequency-domain unsharp masking:</a:t>
                </a:r>
                <a:br/>
                <a14:m>
                  <m:oMath xmlns:m="http://schemas.openxmlformats.org/officeDocument/2006/math">
                    <m:sSup>
                      <m:e>
                        <m:r>
                          <m:t>I</m:t>
                        </m:r>
                      </m:e>
                      <m:sup>
                        <m:r>
                          <m:rPr>
                            <m:sty m:val="p"/>
                          </m:rPr>
                          <m:t>′</m:t>
                        </m:r>
                      </m:sup>
                    </m:sSup>
                    <m:r>
                      <m:rPr>
                        <m:sty m:val="p"/>
                      </m:rPr>
                      <m:t>=</m:t>
                    </m:r>
                    <m:r>
                      <m:t>I</m:t>
                    </m:r>
                    <m:r>
                      <m:rPr>
                        <m:sty m:val="p"/>
                      </m:rPr>
                      <m:t>+</m:t>
                    </m:r>
                    <m:r>
                      <m:t>α</m:t>
                    </m:r>
                    <m:r>
                      <m:rPr>
                        <m:sty m:val="p"/>
                      </m:rPr>
                      <m:t>⋅</m:t>
                    </m:r>
                    <m:r>
                      <m:rPr>
                        <m:sty m:val="p"/>
                      </m:rPr>
                      <m:t>(</m:t>
                    </m:r>
                    <m:r>
                      <m:t>I</m:t>
                    </m:r>
                    <m:r>
                      <m:rPr>
                        <m:sty m:val="p"/>
                      </m:rPr>
                      <m:t>−</m:t>
                    </m:r>
                    <m:r>
                      <m:rPr>
                        <m:nor/>
                        <m:sty m:val="p"/>
                      </m:rPr>
                      <m:t>Blur</m:t>
                    </m:r>
                    <m:r>
                      <m:rPr>
                        <m:sty m:val="p"/>
                      </m:rPr>
                      <m:t>(</m:t>
                    </m:r>
                    <m:r>
                      <m:t>I</m:t>
                    </m:r>
                    <m:r>
                      <m:rPr>
                        <m:sty m:val="p"/>
                      </m:rPr>
                      <m:t>)</m:t>
                    </m:r>
                    <m:r>
                      <m:rPr>
                        <m:sty m:val="p"/>
                      </m:rPr>
                      <m:t>)</m:t>
                    </m:r>
                  </m:oMath>
                </a14:m>
                <a:r>
                  <a:rPr/>
                  <a:t>.</a:t>
                </a:r>
              </a:p>
              <a:p>
                <a:pPr lvl="0" indent="0" marL="0">
                  <a:buNone/>
                </a:pPr>
                <a:r>
                  <a:rPr/>
                  <a:t>10. Portrait Bokeh Depth Blur</a:t>
                </a:r>
              </a:p>
              <a:p>
                <a:pPr lvl="0"/>
                <a:r>
                  <a:rPr b="1"/>
                  <a:t>SOTA / Baseline:</a:t>
                </a:r>
                <a:r>
                  <a:rPr/>
                  <a:t> SAM 2.1 / SAM 1.</a:t>
                </a:r>
              </a:p>
              <a:p>
                <a:pPr lvl="0"/>
                <a:r>
                  <a:rPr b="1"/>
                  <a:t>Dataset:</a:t>
                </a:r>
                <a:r>
                  <a:rPr/>
                  <a:t> P3M-10k (Portrait matting benchmark).</a:t>
                </a:r>
              </a:p>
              <a:p>
                <a:pPr lvl="0"/>
                <a:r>
                  <a:rPr b="1"/>
                  <a:t>Metrics:</a:t>
                </a:r>
                <a:r>
                  <a:rPr/>
                  <a:t> IoU, Boundary F1, Precision/Recall.</a:t>
                </a:r>
              </a:p>
              <a:p>
                <a:pPr lvl="0"/>
                <a:r>
                  <a:rPr b="1"/>
                  <a:t>Focus:</a:t>
                </a:r>
                <a:r>
                  <a:rPr/>
                  <a:t> Subject extraction and simulated optical bokeh:</a:t>
                </a:r>
                <a:br/>
                <a14:m>
                  <m:oMath xmlns:m="http://schemas.openxmlformats.org/officeDocument/2006/math">
                    <m:sSup>
                      <m:e>
                        <m:r>
                          <m:t>I</m:t>
                        </m:r>
                      </m:e>
                      <m:sup>
                        <m:r>
                          <m:rPr>
                            <m:sty m:val="p"/>
                          </m:rPr>
                          <m:t>′</m:t>
                        </m:r>
                      </m:sup>
                    </m:sSup>
                    <m:r>
                      <m:rPr>
                        <m:sty m:val="p"/>
                      </m:rPr>
                      <m:t>=</m:t>
                    </m:r>
                    <m:r>
                      <m:t>M</m:t>
                    </m:r>
                    <m:r>
                      <m:rPr>
                        <m:sty m:val="p"/>
                      </m:rPr>
                      <m:t>⋅</m:t>
                    </m:r>
                    <m:r>
                      <m:t>I</m:t>
                    </m:r>
                    <m:r>
                      <m:rPr>
                        <m:sty m:val="p"/>
                      </m:rPr>
                      <m:t>+</m:t>
                    </m:r>
                    <m:r>
                      <m:rPr>
                        <m:sty m:val="p"/>
                      </m:rPr>
                      <m:t>(</m:t>
                    </m:r>
                    <m:r>
                      <m:t>1</m:t>
                    </m:r>
                    <m:r>
                      <m:rPr>
                        <m:sty m:val="p"/>
                      </m:rPr>
                      <m:t>−</m:t>
                    </m:r>
                    <m:r>
                      <m:t>M</m:t>
                    </m:r>
                    <m:r>
                      <m:rPr>
                        <m:sty m:val="p"/>
                      </m:rPr>
                      <m:t>)</m:t>
                    </m:r>
                    <m:r>
                      <m:rPr>
                        <m:sty m:val="p"/>
                      </m:rPr>
                      <m:t>⋅</m:t>
                    </m:r>
                    <m:r>
                      <m:rPr>
                        <m:nor/>
                        <m:sty m:val="p"/>
                      </m:rPr>
                      <m:t>Blur</m:t>
                    </m:r>
                    <m:r>
                      <m:rPr>
                        <m:sty m:val="p"/>
                      </m:rPr>
                      <m:t>(</m:t>
                    </m:r>
                    <m:r>
                      <m:t>I</m:t>
                    </m:r>
                    <m:r>
                      <m:rPr>
                        <m:sty m:val="p"/>
                      </m:rPr>
                      <m:t>)</m:t>
                    </m:r>
                  </m:oMath>
                </a14:m>
                <a:r>
                  <a:rPr/>
                  <a:t>.</a:t>
                </a:r>
              </a:p>
              <a:p>
                <a:pPr lvl="0" indent="0" marL="0">
                  <a:buNone/>
                </a:pPr>
                <a:r>
                  <a:rPr/>
                  <a:t>💡 HOW TO CHOOSE YOUR PROJECT?</a:t>
                </a:r>
              </a:p>
              <a:p>
                <a:pPr lvl="0" indent="-342900" marL="342900">
                  <a:buAutoNum type="arabicPeriod"/>
                </a:pPr>
                <a:r>
                  <a:rPr/>
                  <a:t>Assess which modality excites you most (Vision, NLP/Code, Audio, Multimodal).</a:t>
                </a:r>
              </a:p>
              <a:p>
                <a:pPr lvl="0" indent="-342900" marL="342900">
                  <a:buAutoNum type="arabicPeriod"/>
                </a:pPr>
                <a:r>
                  <a:rPr/>
                  <a:t>In </a:t>
                </a:r>
                <a:r>
                  <a:rPr b="1"/>
                  <a:t>Seminar 1</a:t>
                </a:r>
                <a:r>
                  <a:rPr/>
                  <a:t>, we will run baseline notebooks for all 10 project tracks.</a:t>
                </a:r>
              </a:p>
              <a:p>
                <a:pPr lvl="0" indent="-342900" marL="342900">
                  <a:buAutoNum type="arabicPeriod"/>
                </a:pPr>
                <a:r>
                  <a:rPr/>
                  <a:t>In </a:t>
                </a:r>
                <a:r>
                  <a:rPr b="1"/>
                  <a:t>HW0</a:t>
                </a:r>
                <a:r>
                  <a:rPr/>
                  <a:t>, benchmark 2–3 options on Kaggle.</a:t>
                </a:r>
              </a:p>
              <a:p>
                <a:pPr lvl="0" indent="-342900" marL="342900">
                  <a:buAutoNum type="arabicPeriod"/>
                </a:pPr>
                <a:r>
                  <a:rPr/>
                  <a:t>In </a:t>
                </a:r>
                <a:r>
                  <a:rPr b="1"/>
                  <a:t>HW1</a:t>
                </a:r>
                <a:r>
                  <a:rPr/>
                  <a:t>, formally defend your chosen direction.</a:t>
                </a:r>
              </a:p>
            </p:txBody>
          </p:sp>
        </mc:Choice>
      </mc:AlternateContent>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Capstone Project Lifecycle: Step-by-Step Evolution</a:t>
            </a:r>
          </a:p>
        </p:txBody>
      </p:sp>
      <p:sp>
        <p:nvSpPr>
          <p:cNvPr id="3" name="Content Placeholder 2"/>
          <p:cNvSpPr>
            <a:spLocks noGrp="1"/>
          </p:cNvSpPr>
          <p:nvPr>
            <p:ph idx="1"/>
          </p:nvPr>
        </p:nvSpPr>
        <p:spPr/>
        <p:txBody>
          <a:bodyPr/>
          <a:lstStyle/>
          <a:p>
            <a:pPr lvl="0" indent="0" marL="0">
              <a:buNone/>
            </a:pPr>
            <a:r>
              <a:rPr/>
              <a:t>Capstone Timeline • How Your Project Grows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Phase 1: Discovery &amp; Benchmark</a:t>
            </a:r>
          </a:p>
          <a:p>
            <a:pPr lvl="0"/>
            <a:r>
              <a:rPr b="1"/>
              <a:t>Week 1:</a:t>
            </a:r>
            <a:r>
              <a:rPr/>
              <a:t> Select 2–3 candidate projects from the catalog.</a:t>
            </a:r>
          </a:p>
          <a:p>
            <a:pPr lvl="0"/>
            <a:r>
              <a:rPr b="1"/>
              <a:t>HW0:</a:t>
            </a:r>
            <a:r>
              <a:rPr/>
              <a:t> Deploy baselines on Kaggle and record initial benchmark metrics (latency, VRAM, baseline scores).</a:t>
            </a:r>
          </a:p>
          <a:p>
            <a:pPr lvl="0"/>
            <a:r>
              <a:rPr b="1"/>
              <a:t>HW1:</a:t>
            </a:r>
            <a:r>
              <a:rPr/>
              <a:t> Articles overview: methods, datasets and evaluation of candidate approaches.</a:t>
            </a:r>
          </a:p>
          <a:p>
            <a:pPr lvl="0" indent="0" marL="0">
              <a:buNone/>
            </a:pPr>
            <a:r>
              <a:rPr/>
              <a:t>Phase 2: Decomposition &amp; Analysis</a:t>
            </a:r>
          </a:p>
          <a:p>
            <a:pPr lvl="0"/>
            <a:r>
              <a:rPr b="1"/>
              <a:t>HW2:</a:t>
            </a:r>
            <a:r>
              <a:rPr/>
              <a:t> Tensor foundations in torch, numpy/cupy and scipy.</a:t>
            </a:r>
          </a:p>
          <a:p>
            <a:pPr lvl="0"/>
            <a:r>
              <a:rPr b="1"/>
              <a:t>HW3:</a:t>
            </a:r>
            <a:r>
              <a:rPr/>
              <a:t> Forward/backward passes, hooks and initialization for local distillation.</a:t>
            </a:r>
          </a:p>
          <a:p>
            <a:pPr lvl="0"/>
            <a:r>
              <a:rPr b="1"/>
              <a:t>HW4:</a:t>
            </a:r>
            <a:r>
              <a:rPr/>
              <a:t> Truncated SVD &amp; LoRA decomposition of project operators; singular spectrum analysis.</a:t>
            </a:r>
          </a:p>
          <a:p>
            <a:pPr lvl="0"/>
            <a:r>
              <a:rPr b="1"/>
              <a:t>HW5:</a:t>
            </a:r>
            <a:r>
              <a:rPr/>
              <a:t> Matrix differentiation.</a:t>
            </a:r>
          </a:p>
          <a:p>
            <a:pPr lvl="0"/>
            <a:r>
              <a:rPr b="1"/>
              <a:t>HW6:</a:t>
            </a:r>
            <a:r>
              <a:rPr/>
              <a:t> Taylor importance estimation across project operators.</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a:t>Phase 3: Distillation &amp; Optimization</a:t>
                </a:r>
              </a:p>
              <a:p>
                <a:pPr lvl="0"/>
                <a:r>
                  <a:rPr b="1"/>
                  <a:t>HW7:</a:t>
                </a:r>
                <a:r>
                  <a:rPr/>
                  <a:t> Local distillation with initialization from </a:t>
                </a:r>
                <a:r>
                  <a:rPr b="1"/>
                  <a:t>HW3</a:t>
                </a:r>
                <a:r>
                  <a:rPr/>
                  <a:t> (</a:t>
                </a:r>
                <a14:m>
                  <m:oMath xmlns:m="http://schemas.openxmlformats.org/officeDocument/2006/math">
                    <m:sSub>
                      <m:e>
                        <m:r>
                          <m:rPr>
                            <m:scr m:val="script"/>
                            <m:sty m:val="p"/>
                          </m:rPr>
                          <m:t>L</m:t>
                        </m:r>
                      </m:e>
                      <m:sub>
                        <m:r>
                          <m:t>M</m:t>
                        </m:r>
                        <m:r>
                          <m:t>S</m:t>
                        </m:r>
                        <m:r>
                          <m:t>E</m:t>
                        </m:r>
                      </m:sub>
                    </m:sSub>
                    <m:r>
                      <m:rPr>
                        <m:sty m:val="p"/>
                      </m:rPr>
                      <m:t>+</m:t>
                    </m:r>
                    <m:sSub>
                      <m:e>
                        <m:r>
                          <m:rPr>
                            <m:scr m:val="script"/>
                            <m:sty m:val="p"/>
                          </m:rPr>
                          <m:t>L</m:t>
                        </m:r>
                      </m:e>
                      <m:sub>
                        <m:r>
                          <m:t>c</m:t>
                        </m:r>
                        <m:r>
                          <m:t>o</m:t>
                        </m:r>
                        <m:r>
                          <m:t>s</m:t>
                        </m:r>
                      </m:sub>
                    </m:sSub>
                  </m:oMath>
                </a14:m>
                <a:r>
                  <a:rPr/>
                  <a:t>).</a:t>
                </a:r>
              </a:p>
              <a:p>
                <a:pPr lvl="0"/>
                <a:r>
                  <a:rPr b="1"/>
                  <a:t>HW8:</a:t>
                </a:r>
                <a:r>
                  <a:rPr/>
                  <a:t> Accelerating distillation convergence using importance estimates from </a:t>
                </a:r>
                <a:r>
                  <a:rPr b="1"/>
                  <a:t>HW6</a:t>
                </a:r>
                <a:r>
                  <a:rPr/>
                  <a:t> and the </a:t>
                </a:r>
                <a:r>
                  <a:rPr b="1"/>
                  <a:t>Muon</a:t>
                </a:r>
                <a:r>
                  <a:rPr/>
                  <a:t> / </a:t>
                </a:r>
                <a:r>
                  <a:rPr b="1"/>
                  <a:t>Lion</a:t>
                </a:r>
                <a:r>
                  <a:rPr/>
                  <a:t> optimizer.</a:t>
                </a:r>
              </a:p>
              <a:p>
                <a:pPr lvl="0" indent="0" marL="0">
                  <a:buNone/>
                </a:pPr>
                <a:r>
                  <a:rPr/>
                  <a:t>Phase 4: Scaling &amp; Final Defense</a:t>
                </a:r>
              </a:p>
              <a:p>
                <a:pPr lvl="0"/>
                <a:r>
                  <a:rPr b="1"/>
                  <a:t>HW9:</a:t>
                </a:r>
                <a:r>
                  <a:rPr/>
                  <a:t> Infrastructure, reproducible launches and distributed training.</a:t>
                </a:r>
              </a:p>
              <a:p>
                <a:pPr lvl="0"/>
                <a:r>
                  <a:rPr b="1"/>
                  <a:t>HW10:</a:t>
                </a:r>
                <a:r>
                  <a:rPr/>
                  <a:t> Full fine-tuning (LoRA / SFT), comprehensive benchmark evaluation, GitHub repo, and final oral defense.</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the Homework Assignments?</a:t>
            </a:r>
          </a:p>
        </p:txBody>
      </p:sp>
      <p:graphicFrame>
        <p:nvGraphicFramePr>
          <p:cNvPr id="6" name="Content Placeholder 5"/>
          <p:cNvGraphicFramePr>
            <a:graphicFrameLocks noGrp="1"/>
          </p:cNvGraphicFramePr>
          <p:nvPr>
            <p:ph idx="1"/>
          </p:nvPr>
        </p:nvGraphicFramePr>
        <p:xfrm>
          <a:off x="457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lgn="l">
                        <a:buNone/>
                      </a:pPr>
                      <a:r>
                        <a:rPr/>
                        <a:t>HW</a:t>
                      </a:r>
                    </a:p>
                  </a:txBody>
                  <a:tcPr/>
                </a:tc>
                <a:tc>
                  <a:txBody>
                    <a:bodyPr/>
                    <a:lstStyle/>
                    <a:p>
                      <a:pPr lvl="0" indent="0" marL="0" algn="l">
                        <a:buNone/>
                      </a:pPr>
                      <a:r>
                        <a:rPr/>
                        <a:t>Topic</a:t>
                      </a:r>
                    </a:p>
                  </a:txBody>
                  <a:tcPr/>
                </a:tc>
              </a:tr>
              <a:tr h="0">
                <a:tc>
                  <a:txBody>
                    <a:bodyPr/>
                    <a:lstStyle/>
                    <a:p>
                      <a:pPr lvl="0" indent="0" marL="0" algn="l">
                        <a:buNone/>
                      </a:pPr>
                      <a:r>
                        <a:rPr b="1"/>
                        <a:t>HW0</a:t>
                      </a:r>
                    </a:p>
                  </a:txBody>
                </a:tc>
                <a:tc>
                  <a:txBody>
                    <a:bodyPr/>
                    <a:lstStyle/>
                    <a:p>
                      <a:pPr lvl="0" indent="0" marL="0" algn="l">
                        <a:buNone/>
                      </a:pPr>
                      <a:r>
                        <a:rPr/>
                        <a:t>Benchmark Baseline Models</a:t>
                      </a:r>
                    </a:p>
                  </a:txBody>
                </a:tc>
              </a:tr>
              <a:tr h="0">
                <a:tc>
                  <a:txBody>
                    <a:bodyPr/>
                    <a:lstStyle/>
                    <a:p>
                      <a:pPr lvl="0" indent="0" marL="0" algn="l">
                        <a:buNone/>
                      </a:pPr>
                      <a:r>
                        <a:rPr b="1"/>
                        <a:t>HW1</a:t>
                      </a:r>
                    </a:p>
                  </a:txBody>
                </a:tc>
                <a:tc>
                  <a:txBody>
                    <a:bodyPr/>
                    <a:lstStyle/>
                    <a:p>
                      <a:pPr lvl="0" indent="0" marL="0" algn="l">
                        <a:buNone/>
                      </a:pPr>
                      <a:r>
                        <a:rPr/>
                        <a:t>Articles overview</a:t>
                      </a:r>
                    </a:p>
                  </a:txBody>
                </a:tc>
              </a:tr>
              <a:tr h="0">
                <a:tc>
                  <a:txBody>
                    <a:bodyPr/>
                    <a:lstStyle/>
                    <a:p>
                      <a:pPr lvl="0" indent="0" marL="0" algn="l">
                        <a:buNone/>
                      </a:pPr>
                      <a:r>
                        <a:rPr b="1"/>
                        <a:t>HW2</a:t>
                      </a:r>
                    </a:p>
                  </a:txBody>
                </a:tc>
                <a:tc>
                  <a:txBody>
                    <a:bodyPr/>
                    <a:lstStyle/>
                    <a:p>
                      <a:pPr lvl="0" indent="0" marL="0" algn="l">
                        <a:buNone/>
                      </a:pPr>
                      <a:r>
                        <a:rPr/>
                        <a:t>torchnumpy/cupyscipy</a:t>
                      </a:r>
                    </a:p>
                  </a:txBody>
                </a:tc>
              </a:tr>
              <a:tr h="0">
                <a:tc>
                  <a:txBody>
                    <a:bodyPr/>
                    <a:lstStyle/>
                    <a:p>
                      <a:pPr lvl="0" indent="0" marL="0" algn="l">
                        <a:buNone/>
                      </a:pPr>
                      <a:r>
                        <a:rPr b="1"/>
                        <a:t>HW3</a:t>
                      </a:r>
                    </a:p>
                  </a:txBody>
                </a:tc>
                <a:tc>
                  <a:txBody>
                    <a:bodyPr/>
                    <a:lstStyle/>
                    <a:p>
                      <a:pPr lvl="0" indent="0" marL="0" algn="l">
                        <a:buNone/>
                      </a:pPr>
                      <a:r>
                        <a:rPr/>
                        <a:t>forward/backward/hooks</a:t>
                      </a:r>
                    </a:p>
                  </a:txBody>
                </a:tc>
              </a:tr>
              <a:tr h="0">
                <a:tc>
                  <a:txBody>
                    <a:bodyPr/>
                    <a:lstStyle/>
                    <a:p>
                      <a:pPr lvl="0" indent="0" marL="0" algn="l">
                        <a:buNone/>
                      </a:pPr>
                      <a:r>
                        <a:rPr b="1"/>
                        <a:t>HW4</a:t>
                      </a:r>
                    </a:p>
                  </a:txBody>
                </a:tc>
                <a:tc>
                  <a:txBody>
                    <a:bodyPr/>
                    <a:lstStyle/>
                    <a:p>
                      <a:pPr lvl="0" indent="0" marL="0" algn="l">
                        <a:buNone/>
                      </a:pPr>
                      <a:r>
                        <a:rPr/>
                        <a:t>analytical operator approximation</a:t>
                      </a:r>
                    </a:p>
                  </a:txBody>
                </a:tc>
              </a:tr>
              <a:tr h="0">
                <a:tc>
                  <a:txBody>
                    <a:bodyPr/>
                    <a:lstStyle/>
                    <a:p>
                      <a:pPr lvl="0" indent="0" marL="0" algn="l">
                        <a:buNone/>
                      </a:pPr>
                      <a:r>
                        <a:rPr b="1"/>
                        <a:t>HW5</a:t>
                      </a:r>
                    </a:p>
                  </a:txBody>
                </a:tc>
                <a:tc>
                  <a:txBody>
                    <a:bodyPr/>
                    <a:lstStyle/>
                    <a:p>
                      <a:pPr lvl="0" indent="0" marL="0" algn="l">
                        <a:buNone/>
                      </a:pPr>
                      <a:r>
                        <a:rPr/>
                        <a:t>Matrix differentiation</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lgn="l">
                        <a:buNone/>
                      </a:pPr>
                      <a:r>
                        <a:rPr/>
                        <a:t>HW</a:t>
                      </a:r>
                    </a:p>
                  </a:txBody>
                  <a:tcPr/>
                </a:tc>
                <a:tc>
                  <a:txBody>
                    <a:bodyPr/>
                    <a:lstStyle/>
                    <a:p>
                      <a:pPr lvl="0" indent="0" marL="0" algn="l">
                        <a:buNone/>
                      </a:pPr>
                      <a:r>
                        <a:rPr/>
                        <a:t>Topic</a:t>
                      </a:r>
                    </a:p>
                  </a:txBody>
                  <a:tcPr/>
                </a:tc>
              </a:tr>
              <a:tr h="0">
                <a:tc>
                  <a:txBody>
                    <a:bodyPr/>
                    <a:lstStyle/>
                    <a:p>
                      <a:pPr lvl="0" indent="0" marL="0" algn="l">
                        <a:buNone/>
                      </a:pPr>
                      <a:r>
                        <a:rPr b="1"/>
                        <a:t>HW6</a:t>
                      </a:r>
                    </a:p>
                  </a:txBody>
                </a:tc>
                <a:tc>
                  <a:txBody>
                    <a:bodyPr/>
                    <a:lstStyle/>
                    <a:p>
                      <a:pPr lvl="0" indent="0" marL="0" algn="l">
                        <a:buNone/>
                      </a:pPr>
                      <a:r>
                        <a:rPr/>
                        <a:t>Taylor Importance estimation</a:t>
                      </a:r>
                    </a:p>
                  </a:txBody>
                </a:tc>
              </a:tr>
              <a:tr h="0">
                <a:tc>
                  <a:txBody>
                    <a:bodyPr/>
                    <a:lstStyle/>
                    <a:p>
                      <a:pPr lvl="0" indent="0" marL="0" algn="l">
                        <a:buNone/>
                      </a:pPr>
                      <a:r>
                        <a:rPr b="1"/>
                        <a:t>HW7</a:t>
                      </a:r>
                    </a:p>
                  </a:txBody>
                </a:tc>
                <a:tc>
                  <a:txBody>
                    <a:bodyPr/>
                    <a:lstStyle/>
                    <a:p>
                      <a:pPr lvl="0" indent="0" marL="0" algn="l">
                        <a:buNone/>
                      </a:pPr>
                      <a:r>
                        <a:rPr/>
                        <a:t>Local distillation + Initialization from </a:t>
                      </a:r>
                      <a:r>
                        <a:rPr b="1"/>
                        <a:t>HW3</a:t>
                      </a:r>
                    </a:p>
                  </a:txBody>
                </a:tc>
              </a:tr>
              <a:tr h="0">
                <a:tc>
                  <a:txBody>
                    <a:bodyPr/>
                    <a:lstStyle/>
                    <a:p>
                      <a:pPr lvl="0" indent="0" marL="0" algn="l">
                        <a:buNone/>
                      </a:pPr>
                      <a:r>
                        <a:rPr b="1"/>
                        <a:t>HW8</a:t>
                      </a:r>
                    </a:p>
                  </a:txBody>
                </a:tc>
                <a:tc>
                  <a:txBody>
                    <a:bodyPr/>
                    <a:lstStyle/>
                    <a:p>
                      <a:pPr lvl="0" indent="0" marL="0" algn="l">
                        <a:buNone/>
                      </a:pPr>
                      <a:r>
                        <a:rPr/>
                        <a:t>Advanced local distillation + Importance estimations from </a:t>
                      </a:r>
                      <a:r>
                        <a:rPr b="1"/>
                        <a:t>HW6</a:t>
                      </a:r>
                    </a:p>
                  </a:txBody>
                </a:tc>
              </a:tr>
              <a:tr h="0">
                <a:tc>
                  <a:txBody>
                    <a:bodyPr/>
                    <a:lstStyle/>
                    <a:p>
                      <a:pPr lvl="0" indent="0" marL="0" algn="l">
                        <a:buNone/>
                      </a:pPr>
                      <a:r>
                        <a:rPr b="1"/>
                        <a:t>HW9</a:t>
                      </a:r>
                    </a:p>
                  </a:txBody>
                </a:tc>
                <a:tc>
                  <a:txBody>
                    <a:bodyPr/>
                    <a:lstStyle/>
                    <a:p>
                      <a:pPr lvl="0" indent="0" marL="0" algn="l">
                        <a:buNone/>
                      </a:pPr>
                      <a:r>
                        <a:rPr/>
                        <a:t>Infrastructure HW</a:t>
                      </a:r>
                    </a:p>
                  </a:txBody>
                </a:tc>
              </a:tr>
              <a:tr h="0">
                <a:tc>
                  <a:txBody>
                    <a:bodyPr/>
                    <a:lstStyle/>
                    <a:p>
                      <a:pPr lvl="0" indent="0" marL="0" algn="l">
                        <a:buNone/>
                      </a:pPr>
                      <a:r>
                        <a:rPr b="1"/>
                        <a:t>HW10</a:t>
                      </a:r>
                    </a:p>
                  </a:txBody>
                </a:tc>
                <a:tc>
                  <a:txBody>
                    <a:bodyPr/>
                    <a:lstStyle/>
                    <a:p>
                      <a:pPr lvl="0" indent="0" marL="0" algn="l">
                        <a:buNone/>
                      </a:pPr>
                      <a:r>
                        <a:rPr/>
                        <a:t>Project</a:t>
                      </a:r>
                    </a:p>
                  </a:txBody>
                </a:tc>
              </a:tr>
            </a:tbl>
          </a:graphicData>
        </a:graphic>
      </p:graphicFrame>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Will Homework Work on Kaggle?</a:t>
            </a:r>
          </a:p>
        </p:txBody>
      </p:sp>
      <p:sp>
        <p:nvSpPr>
          <p:cNvPr id="3" name="Content Placeholder 2"/>
          <p:cNvSpPr>
            <a:spLocks noGrp="1"/>
          </p:cNvSpPr>
          <p:nvPr>
            <p:ph idx="1" sz="half"/>
          </p:nvPr>
        </p:nvSpPr>
        <p:spPr/>
        <p:txBody>
          <a:bodyPr/>
          <a:lstStyle/>
          <a:p>
            <a:pPr lvl="0" indent="0" marL="0">
              <a:buNone/>
            </a:pPr>
            <a:r>
              <a:rPr/>
              <a:t>Working in Kaggle</a:t>
            </a:r>
          </a:p>
          <a:p>
            <a:pPr lvl="0" indent="0" marL="0">
              <a:buNone/>
            </a:pPr>
            <a:r>
              <a:rPr b="1"/>
              <a:t>[Placeholder: platform overview and homework setup]</a:t>
            </a:r>
          </a:p>
          <a:p>
            <a:pPr lvl="0"/>
            <a:r>
              <a:rPr/>
              <a:t>[How to open and copy the starter notebook].</a:t>
            </a:r>
          </a:p>
          <a:p>
            <a:pPr lvl="0"/>
            <a:r>
              <a:rPr/>
              <a:t>[How to attach datasets and select an accelerator].</a:t>
            </a:r>
          </a:p>
          <a:p>
            <a:pPr lvl="0"/>
            <a:r>
              <a:rPr/>
              <a:t>[How to run an experiment and save the results].</a:t>
            </a:r>
          </a:p>
          <a:p>
            <a:pPr lvl="0" indent="0" marL="0">
              <a:buNone/>
            </a:pPr>
            <a:r>
              <a:rPr/>
              <a:t>[Kaggle screenshot / starter notebook link]</a:t>
            </a:r>
          </a:p>
        </p:txBody>
      </p:sp>
      <p:sp>
        <p:nvSpPr>
          <p:cNvPr id="4" name="Content Placeholder 3"/>
          <p:cNvSpPr>
            <a:spLocks noGrp="1"/>
          </p:cNvSpPr>
          <p:nvPr>
            <p:ph idx="2" sz="half"/>
          </p:nvPr>
        </p:nvSpPr>
        <p:spPr/>
        <p:txBody>
          <a:bodyPr/>
          <a:lstStyle/>
          <a:p>
            <a:pPr lvl="0" indent="0" marL="0">
              <a:buNone/>
            </a:pPr>
            <a:r>
              <a:rPr/>
              <a:t>Submitting Your Homework</a:t>
            </a:r>
          </a:p>
          <a:p>
            <a:pPr lvl="0" indent="0" marL="0">
              <a:buNone/>
            </a:pPr>
            <a:r>
              <a:rPr b="1"/>
              <a:t>[Placeholder: submission and review process]</a:t>
            </a:r>
          </a:p>
          <a:p>
            <a:pPr lvl="0"/>
            <a:r>
              <a:rPr b="1"/>
              <a:t>What to submit:</a:t>
            </a:r>
            <a:r>
              <a:rPr/>
              <a:t> [notebook, metrics, conclusions, artifacts].</a:t>
            </a:r>
          </a:p>
          <a:p>
            <a:pPr lvl="0"/>
            <a:r>
              <a:rPr b="1"/>
              <a:t>Where to submit:</a:t>
            </a:r>
            <a:r>
              <a:rPr/>
              <a:t> [link / form / section].</a:t>
            </a:r>
          </a:p>
          <a:p>
            <a:pPr lvl="0"/>
            <a:r>
              <a:rPr b="1"/>
              <a:t>Format:</a:t>
            </a:r>
            <a:r>
              <a:rPr/>
              <a:t> [assignment name and run version].</a:t>
            </a:r>
          </a:p>
          <a:p>
            <a:pPr lvl="0"/>
            <a:r>
              <a:rPr b="1"/>
              <a:t>Deadlines and feedback:</a:t>
            </a:r>
            <a:r>
              <a:rPr/>
              <a:t> [rules and where to find reviews].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Grading Criteria &amp; Academic Integrity</a:t>
            </a:r>
          </a:p>
        </p:txBody>
      </p:sp>
      <p:sp>
        <p:nvSpPr>
          <p:cNvPr id="3" name="Content Placeholder 2"/>
          <p:cNvSpPr>
            <a:spLocks noGrp="1"/>
          </p:cNvSpPr>
          <p:nvPr>
            <p:ph idx="1"/>
          </p:nvPr>
        </p:nvSpPr>
        <p:spPr/>
        <p:txBody>
          <a:bodyPr/>
          <a:lstStyle/>
          <a:p>
            <a:pPr lvl="0" indent="0" marL="0">
              <a:buNone/>
            </a:pPr>
            <a:r>
              <a:rPr/>
              <a:t>Academic Regulations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 Grading Components</a:t>
            </a:r>
          </a:p>
          <a:p>
            <a:pPr lvl="0"/>
            <a:r>
              <a:rPr b="1"/>
              <a:t>Theoretical Rigor (20%):</a:t>
            </a:r>
            <a:r>
              <a:rPr/>
              <a:t> Mathematical precision of proofs (e.g. HW5 matrix differentiation, HW6 Taylor importance &amp; HW4 SVD).</a:t>
            </a:r>
          </a:p>
          <a:p>
            <a:pPr lvl="0"/>
            <a:r>
              <a:rPr b="1"/>
              <a:t>Engineering Quality (30%):</a:t>
            </a:r>
            <a:r>
              <a:rPr/>
              <a:t> Modularity, type annotations, PyTorch hooks, vectorized execution, zero hardcoded constants.</a:t>
            </a:r>
          </a:p>
          <a:p>
            <a:pPr lvl="0"/>
            <a:r>
              <a:rPr b="1"/>
              <a:t>Empirical Research (30%):</a:t>
            </a:r>
            <a:r>
              <a:rPr/>
              <a:t> Depth of analysis, ablation studies, baseline comparisons, justification of hyperparameters and optimizers.</a:t>
            </a:r>
          </a:p>
          <a:p>
            <a:pPr lvl="0"/>
            <a:r>
              <a:rPr b="1"/>
              <a:t>Defense &amp; Presentation (20%):</a:t>
            </a:r>
            <a:r>
              <a:rPr/>
              <a:t> Proposal presentation at Seminar 4 and final capstone demonstration at semester end.</a:t>
            </a:r>
          </a:p>
        </p:txBody>
      </p:sp>
      <p:sp>
        <p:nvSpPr>
          <p:cNvPr id="4" name="Content Placeholder 3"/>
          <p:cNvSpPr>
            <a:spLocks noGrp="1"/>
          </p:cNvSpPr>
          <p:nvPr>
            <p:ph idx="2" sz="half"/>
          </p:nvPr>
        </p:nvSpPr>
        <p:spPr/>
        <p:txBody>
          <a:bodyPr/>
          <a:lstStyle/>
          <a:p>
            <a:pPr lvl="0" indent="0" marL="0">
              <a:buNone/>
            </a:pPr>
            <a:r>
              <a:rPr/>
              <a:t>⚖️ Deadlines &amp; AI Policy</a:t>
            </a:r>
          </a:p>
          <a:p>
            <a:pPr lvl="0"/>
            <a:r>
              <a:rPr b="1"/>
              <a:t>On-time Submission:</a:t>
            </a:r>
            <a:r>
              <a:rPr/>
              <a:t> 100% maximum score.</a:t>
            </a:r>
          </a:p>
          <a:p>
            <a:pPr lvl="0"/>
            <a:r>
              <a:rPr b="1"/>
              <a:t>Late Penalties:</a:t>
            </a:r>
            <a:r>
              <a:rPr/>
              <a:t> -10% per day of delay without a verified academic or medical reason.</a:t>
            </a:r>
          </a:p>
          <a:p>
            <a:pPr lvl="0"/>
            <a:r>
              <a:rPr b="1"/>
              <a:t>LLM Coding Assistants:</a:t>
            </a:r>
            <a:r>
              <a:rPr/>
              <a:t> Using LLM copilots is permitted and encouraged for boilerplate and debugging, </a:t>
            </a:r>
            <a:r>
              <a:rPr b="1"/>
              <a:t>BUT</a:t>
            </a:r>
            <a:r>
              <a:rPr/>
              <a:t> students must be able to explain and defend every line of code and mathematical derivation. Blind copy-pasting without understanding results in a zero grade.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 Hope You’ll Get Out of the Course</a:t>
            </a:r>
          </a:p>
        </p:txBody>
      </p:sp>
      <p:sp>
        <p:nvSpPr>
          <p:cNvPr id="3" name="Content Placeholder 2"/>
          <p:cNvSpPr>
            <a:spLocks noGrp="1"/>
          </p:cNvSpPr>
          <p:nvPr>
            <p:ph idx="1"/>
          </p:nvPr>
        </p:nvSpPr>
        <p:spPr/>
        <p:txBody>
          <a:bodyPr/>
          <a:lstStyle/>
          <a:p>
            <a:pPr lvl="0" indent="0" marL="0">
              <a:buNone/>
            </a:pPr>
            <a:r>
              <a:rPr/>
              <a:t>I hope you’ll leave with:</a:t>
            </a:r>
          </a:p>
          <a:p>
            <a:pPr lvl="0"/>
            <a:r>
              <a:rPr/>
              <a:t>A better feel for how model code relates to the ideas in a paper.</a:t>
            </a:r>
          </a:p>
          <a:p>
            <a:pPr lvl="0"/>
            <a:r>
              <a:rPr/>
              <a:t>Experience running experiments and checking whether a change helps.</a:t>
            </a:r>
          </a:p>
          <a:p>
            <a:pPr lvl="0"/>
            <a:r>
              <a:rPr/>
              <a:t>Some practice with debugging, memory limits and training runs.</a:t>
            </a:r>
          </a:p>
          <a:p>
            <a:pPr lvl="0"/>
            <a:r>
              <a:rPr/>
              <a:t>A project you understand, with a few ideas for what to try next.</a:t>
            </a:r>
          </a:p>
          <a:p>
            <a:pPr lvl="0" indent="0" marL="0">
              <a:buNone/>
            </a:pPr>
            <a:r>
              <a:rPr/>
              <a:t>For me, this is also a chance to revisit what I’ve learned and learn from your questions.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Aleksey Ryabykin</dc:creator>
  <cp:keywords/>
  <dcterms:created xsi:type="dcterms:W3CDTF">2026-09-17T20:56:12Z</dcterms:created>
  <dcterms:modified xsi:type="dcterms:W3CDTF">2026-09-17T20:56:12Z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date">
    <vt:lpwstr>2026-09-04</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pagetitle">
    <vt:lpwstr>Course Structure &amp; Roadmap: Modern AI</vt:lpwstr>
  </property>
  <property fmtid="{D5CDD505-2E9C-101B-9397-08002B2CF9AE}" pid="13" name="subtitle">
    <vt:lpwstr>Architectural Foundations, Mathematical Rigor &amp; End-to-End Systems</vt:lpwstr>
  </property>
  <property fmtid="{D5CDD505-2E9C-101B-9397-08002B2CF9AE}" pid="14" name="toc-title">
    <vt:lpwstr>Table of contents</vt:lpwstr>
  </property>
</Properties>
</file>